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E6EDF3"/>
                </a:solidFill>
              </a:defRPr>
            </a:pPr>
            <a:r>
              <a:t>Missed-Lead Detector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7D8590"/>
                </a:solidFill>
              </a:defRPr>
            </a:pPr>
            <a:r>
              <a:t>Machine Learning-Based Missed-Lead Detection and Automated</a:t>
            </a:r>
            <a:br/>
            <a:r>
              <a:t>Follow-Up System for Customer Retention in Sales Pipelines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AD4V71 — Machine Learning Operations (MLOps)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4114800"/>
            <a:ext cx="4572000" cy="1828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389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6EDF3"/>
                </a:solidFill>
              </a:defRPr>
            </a:pPr>
            <a:r>
              <a:t>Presented By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8463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D8590"/>
                </a:solidFill>
              </a:defRPr>
            </a:pPr>
            <a:r>
              <a:t>Team Member 1 Name  •  Regd No.  •  Section</a:t>
            </a:r>
            <a:br/>
            <a:r>
              <a:t>Team Member 2 Name  •  Regd No.  •  Section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943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84F58"/>
                </a:solidFill>
              </a:defRPr>
            </a:pPr>
            <a:r>
              <a:t>CIT Chennai — Batch 2025-27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6EDF3"/>
                </a:solidFill>
              </a:defRPr>
            </a:pPr>
            <a:r>
              <a:t>Problem Identification &amp; Title Justification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2743200" cy="274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303520" cy="2560320"/>
          </a:xfrm>
          <a:prstGeom prst="roundRect">
            <a:avLst/>
          </a:prstGeom>
          <a:solidFill>
            <a:srgbClr val="141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7171"/>
                </a:solidFill>
              </a:defRPr>
            </a:pPr>
            <a:r>
              <a:t>🔍 Relevance of 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4754880" cy="1783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7D8590"/>
                </a:solidFill>
              </a:defRPr>
            </a:pPr>
            <a:r>
              <a:t>▸ Customers message businesses daily about price, demo, or availability — these are 'leads'</a:t>
            </a:r>
          </a:p>
          <a:p>
            <a:pPr>
              <a:spcAft>
                <a:spcPts val="600"/>
              </a:spcAft>
              <a:defRPr sz="1300">
                <a:solidFill>
                  <a:srgbClr val="7D8590"/>
                </a:solidFill>
              </a:defRPr>
            </a:pPr>
            <a:r>
              <a:t>▸ Busy staff sometimes miss replying; after ~24 hours, unanswered customers move to competitors</a:t>
            </a:r>
          </a:p>
          <a:p>
            <a:pPr>
              <a:spcAft>
                <a:spcPts val="600"/>
              </a:spcAft>
              <a:defRPr sz="1300">
                <a:solidFill>
                  <a:srgbClr val="7D8590"/>
                </a:solidFill>
              </a:defRPr>
            </a:pPr>
            <a:r>
              <a:t>▸ This 'missed lead' problem is common for SMBs with limited staff</a:t>
            </a:r>
          </a:p>
          <a:p>
            <a:pPr>
              <a:spcAft>
                <a:spcPts val="600"/>
              </a:spcAft>
              <a:defRPr sz="1300">
                <a:solidFill>
                  <a:srgbClr val="7D8590"/>
                </a:solidFill>
              </a:defRPr>
            </a:pPr>
            <a:r>
              <a:t>▸ No real-time way to know which messages were not replied to timely</a:t>
            </a:r>
          </a:p>
          <a:p>
            <a:pPr>
              <a:spcAft>
                <a:spcPts val="600"/>
              </a:spcAft>
              <a:defRPr sz="1300">
                <a:solidFill>
                  <a:srgbClr val="7D8590"/>
                </a:solidFill>
              </a:defRPr>
            </a:pPr>
            <a:r>
              <a:t>▸ A missed lead is rarely noticed until the sale is already lost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188720"/>
            <a:ext cx="5303520" cy="2560320"/>
          </a:xfrm>
          <a:prstGeom prst="roundRect">
            <a:avLst/>
          </a:prstGeom>
          <a:solidFill>
            <a:srgbClr val="141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3716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</a:defRPr>
            </a:pPr>
            <a:r>
              <a:t>🎯 Scope of the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783080"/>
            <a:ext cx="4754880" cy="1783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7D8590"/>
                </a:solidFill>
              </a:defRPr>
            </a:pPr>
            <a:r>
              <a:t>▸ Title: ML-Based Missed-Lead Detection &amp; Automated Follow-Up System</a:t>
            </a:r>
          </a:p>
          <a:p>
            <a:pPr>
              <a:spcAft>
                <a:spcPts val="600"/>
              </a:spcAft>
              <a:defRPr sz="1300">
                <a:solidFill>
                  <a:srgbClr val="7D8590"/>
                </a:solidFill>
              </a:defRPr>
            </a:pPr>
            <a:r>
              <a:t>▸ ML identifies leads missed by staff, then auto-sends follow-up or alerts staff</a:t>
            </a:r>
          </a:p>
          <a:p>
            <a:pPr>
              <a:spcAft>
                <a:spcPts val="600"/>
              </a:spcAft>
              <a:defRPr sz="1300">
                <a:solidFill>
                  <a:srgbClr val="7D8590"/>
                </a:solidFill>
              </a:defRPr>
            </a:pPr>
            <a:r>
              <a:t>▸ Built and tested on self-created sample + Kaggle real-world data</a:t>
            </a:r>
          </a:p>
          <a:p>
            <a:pPr>
              <a:spcAft>
                <a:spcPts val="600"/>
              </a:spcAft>
              <a:defRPr sz="1300">
                <a:solidFill>
                  <a:srgbClr val="7D8590"/>
                </a:solidFill>
              </a:defRPr>
            </a:pPr>
            <a:r>
              <a:t>▸ Real business data integration planned for next phase</a:t>
            </a:r>
          </a:p>
          <a:p>
            <a:pPr>
              <a:spcAft>
                <a:spcPts val="600"/>
              </a:spcAft>
              <a:defRPr sz="1300">
                <a:solidFill>
                  <a:srgbClr val="7D8590"/>
                </a:solidFill>
              </a:defRPr>
            </a:pPr>
            <a:r>
              <a:t>▸ 8 classification models tested including Deep Learning &amp; Ensembles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023360"/>
            <a:ext cx="11064240" cy="2560320"/>
          </a:xfrm>
          <a:prstGeom prst="roundRect">
            <a:avLst/>
          </a:prstGeom>
          <a:solidFill>
            <a:srgbClr val="141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2062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</a:defRPr>
            </a:pPr>
            <a:r>
              <a:t>📋 Project Title Justification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617720"/>
            <a:ext cx="10515600" cy="1783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7D8590"/>
                </a:solidFill>
              </a:defRPr>
            </a:pPr>
            <a:r>
              <a:t>▸ Machine Learning identifies which customer messages did not receive a timely reply</a:t>
            </a:r>
          </a:p>
          <a:p>
            <a:pPr>
              <a:spcAft>
                <a:spcPts val="600"/>
              </a:spcAft>
              <a:defRPr sz="1300">
                <a:solidFill>
                  <a:srgbClr val="7D8590"/>
                </a:solidFill>
              </a:defRPr>
            </a:pPr>
            <a:r>
              <a:t>▸ Automated Follow-Up Engine sends human-like replies (clients cannot detect automation)</a:t>
            </a:r>
          </a:p>
          <a:p>
            <a:pPr>
              <a:spcAft>
                <a:spcPts val="600"/>
              </a:spcAft>
              <a:defRPr sz="1300">
                <a:solidFill>
                  <a:srgbClr val="7D8590"/>
                </a:solidFill>
              </a:defRPr>
            </a:pPr>
            <a:r>
              <a:t>▸ Sales Pipeline Retention — ensures no business opportunity is lost due to missed messages</a:t>
            </a:r>
          </a:p>
          <a:p>
            <a:pPr>
              <a:spcAft>
                <a:spcPts val="600"/>
              </a:spcAft>
              <a:defRPr sz="1300">
                <a:solidFill>
                  <a:srgbClr val="7D8590"/>
                </a:solidFill>
              </a:defRPr>
            </a:pPr>
            <a:r>
              <a:t>▸ System includes: Gmail monitoring → ML scoring → Auto-reply → Dashboard → Notifications</a:t>
            </a:r>
          </a:p>
          <a:p>
            <a:pPr>
              <a:spcAft>
                <a:spcPts val="600"/>
              </a:spcAft>
              <a:defRPr sz="1300">
                <a:solidFill>
                  <a:srgbClr val="7D8590"/>
                </a:solidFill>
              </a:defRPr>
            </a:pPr>
            <a:r>
              <a:t>▸ GitHub Actions schedules automatic scans every 10 minutes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6EDF3"/>
                </a:solidFill>
              </a:defRPr>
            </a:pPr>
            <a:r>
              <a:t>Objectives of the Project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2743200" cy="274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303520" cy="2286000"/>
          </a:xfrm>
          <a:prstGeom prst="roundRect">
            <a:avLst/>
          </a:prstGeom>
          <a:solidFill>
            <a:srgbClr val="141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🎯 Primary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47548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7D8590"/>
                </a:solidFill>
              </a:defRPr>
            </a:pPr>
            <a:r>
              <a:t>▸ Build a system that analyzes customer messages and identifies untimely replies</a:t>
            </a:r>
          </a:p>
          <a:p>
            <a:pPr>
              <a:spcAft>
                <a:spcPts val="600"/>
              </a:spcAft>
              <a:defRPr sz="1300">
                <a:solidFill>
                  <a:srgbClr val="7D8590"/>
                </a:solidFill>
              </a:defRPr>
            </a:pPr>
            <a:r>
              <a:t>▸ Automatically send follow-up emails to missed leads</a:t>
            </a:r>
          </a:p>
          <a:p>
            <a:pPr>
              <a:spcAft>
                <a:spcPts val="600"/>
              </a:spcAft>
              <a:defRPr sz="1300">
                <a:solidFill>
                  <a:srgbClr val="7D8590"/>
                </a:solidFill>
              </a:defRPr>
            </a:pPr>
            <a:r>
              <a:t>▸ Alert staff members with reminders until they respond</a:t>
            </a:r>
          </a:p>
          <a:p>
            <a:pPr>
              <a:spcAft>
                <a:spcPts val="600"/>
              </a:spcAft>
              <a:defRPr sz="1300">
                <a:solidFill>
                  <a:srgbClr val="7D8590"/>
                </a:solidFill>
              </a:defRPr>
            </a:pPr>
            <a:r>
              <a:t>▸ Ensure no business opportunity is lost due to missed messages</a:t>
            </a:r>
          </a:p>
          <a:p>
            <a:pPr>
              <a:spcAft>
                <a:spcPts val="600"/>
              </a:spcAft>
              <a:defRPr sz="1300">
                <a:solidFill>
                  <a:srgbClr val="7D8590"/>
                </a:solidFill>
              </a:defRPr>
            </a:pPr>
            <a:r>
              <a:t>▸ Goal: 100% lead coverage with automated detection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188720"/>
            <a:ext cx="5303520" cy="2286000"/>
          </a:xfrm>
          <a:prstGeom prst="roundRect">
            <a:avLst/>
          </a:prstGeom>
          <a:solidFill>
            <a:srgbClr val="141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3716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A78BFA"/>
                </a:solidFill>
              </a:defRPr>
            </a:pPr>
            <a:r>
              <a:t>📊 Technical Objectives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783080"/>
            <a:ext cx="47548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7D8590"/>
                </a:solidFill>
              </a:defRPr>
            </a:pPr>
            <a:r>
              <a:t>▸ Train 8 ML models and compare performance (AUC, F1, CV scores)</a:t>
            </a:r>
          </a:p>
          <a:p>
            <a:pPr>
              <a:spcAft>
                <a:spcPts val="600"/>
              </a:spcAft>
              <a:defRPr sz="1300">
                <a:solidFill>
                  <a:srgbClr val="7D8590"/>
                </a:solidFill>
              </a:defRPr>
            </a:pPr>
            <a:r>
              <a:t>▸ Implement Optuna hyperparameter tuning for XGBoost</a:t>
            </a:r>
          </a:p>
          <a:p>
            <a:pPr>
              <a:spcAft>
                <a:spcPts val="600"/>
              </a:spcAft>
              <a:defRPr sz="1300">
                <a:solidFill>
                  <a:srgbClr val="7D8590"/>
                </a:solidFill>
              </a:defRPr>
            </a:pPr>
            <a:r>
              <a:t>▸ Build PyTorch deep learning model with residual connections</a:t>
            </a:r>
          </a:p>
          <a:p>
            <a:pPr>
              <a:spcAft>
                <a:spcPts val="600"/>
              </a:spcAft>
              <a:defRPr sz="1300">
                <a:solidFill>
                  <a:srgbClr val="7D8590"/>
                </a:solidFill>
              </a:defRPr>
            </a:pPr>
            <a:r>
              <a:t>▸ Create intent-aware smart reply engine (8 intent categories)</a:t>
            </a:r>
          </a:p>
          <a:p>
            <a:pPr>
              <a:spcAft>
                <a:spcPts val="600"/>
              </a:spcAft>
              <a:defRPr sz="1300">
                <a:solidFill>
                  <a:srgbClr val="7D8590"/>
                </a:solidFill>
              </a:defRPr>
            </a:pPr>
            <a:r>
              <a:t>▸ Deploy Streamlit dashboard for real-time monitoring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749039"/>
            <a:ext cx="11064240" cy="2834640"/>
          </a:xfrm>
          <a:prstGeom prst="roundRect">
            <a:avLst/>
          </a:prstGeom>
          <a:solidFill>
            <a:srgbClr val="141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931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</a:defRPr>
            </a:pPr>
            <a:r>
              <a:t>🚀 Current Scope &amp; Next Phase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343400"/>
            <a:ext cx="1051560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7D8590"/>
                </a:solidFill>
              </a:defRPr>
            </a:pPr>
            <a:r>
              <a:t>▸ Currently: Self-created synthetic data (500 leads) + Kaggle datasets (9,240 + 4,000 leads = 13,740 total)</a:t>
            </a:r>
          </a:p>
          <a:p>
            <a:pPr>
              <a:spcAft>
                <a:spcPts val="600"/>
              </a:spcAft>
              <a:defRPr sz="1300">
                <a:solidFill>
                  <a:srgbClr val="7D8590"/>
                </a:solidFill>
              </a:defRPr>
            </a:pPr>
            <a:r>
              <a:t>▸ Currently: Text-based messages — email, chat, WhatsApp, phone inquiry channels</a:t>
            </a:r>
          </a:p>
          <a:p>
            <a:pPr>
              <a:spcAft>
                <a:spcPts val="600"/>
              </a:spcAft>
              <a:defRPr sz="1300">
                <a:solidFill>
                  <a:srgbClr val="7D8590"/>
                </a:solidFill>
              </a:defRPr>
            </a:pPr>
            <a:r>
              <a:t>▸ Currently: Gmail IMAP integration for real inbox monitoring</a:t>
            </a:r>
          </a:p>
          <a:p>
            <a:pPr>
              <a:spcAft>
                <a:spcPts val="600"/>
              </a:spcAft>
              <a:defRPr sz="1300">
                <a:solidFill>
                  <a:srgbClr val="7D8590"/>
                </a:solidFill>
              </a:defRPr>
            </a:pPr>
            <a:r>
              <a:t>▸ Next Phase: Connect with real business CRM data sources</a:t>
            </a:r>
          </a:p>
          <a:p>
            <a:pPr>
              <a:spcAft>
                <a:spcPts val="600"/>
              </a:spcAft>
              <a:defRPr sz="1300">
                <a:solidFill>
                  <a:srgbClr val="7D8590"/>
                </a:solidFill>
              </a:defRPr>
            </a:pPr>
            <a:r>
              <a:t>▸ Next Phase: Multi-platform integration (WhatsApp Business API, website chat widgets)</a:t>
            </a:r>
          </a:p>
          <a:p>
            <a:pPr>
              <a:spcAft>
                <a:spcPts val="600"/>
              </a:spcAft>
              <a:defRPr sz="1300">
                <a:solidFill>
                  <a:srgbClr val="7D8590"/>
                </a:solidFill>
              </a:defRPr>
            </a:pPr>
            <a:r>
              <a:t>▸ Next Phase: Real-time WebSocket dashboard updates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6EDF3"/>
                </a:solidFill>
              </a:defRPr>
            </a:pPr>
            <a:r>
              <a:t>Basic Concepts &amp; Machine Learning Models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2743200" cy="274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3657600" cy="2103120"/>
          </a:xfrm>
          <a:prstGeom prst="roundRect">
            <a:avLst/>
          </a:prstGeom>
          <a:solidFill>
            <a:srgbClr val="141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🔧 Key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3108960" cy="1325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7D8590"/>
                </a:solidFill>
              </a:defRPr>
            </a:pPr>
            <a:r>
              <a:t>▸ Response Gap: time between message and reply</a:t>
            </a:r>
          </a:p>
          <a:p>
            <a:pPr>
              <a:spcAft>
                <a:spcPts val="600"/>
              </a:spcAft>
              <a:defRPr sz="1300">
                <a:solidFill>
                  <a:srgbClr val="7D8590"/>
                </a:solidFill>
              </a:defRPr>
            </a:pPr>
            <a:r>
              <a:t>▸ Intent Score: customer interest level from words</a:t>
            </a:r>
          </a:p>
          <a:p>
            <a:pPr>
              <a:spcAft>
                <a:spcPts val="600"/>
              </a:spcAft>
              <a:defRPr sz="1300">
                <a:solidFill>
                  <a:srgbClr val="7D8590"/>
                </a:solidFill>
              </a:defRPr>
            </a:pPr>
            <a:r>
              <a:t>▸ Channel Encoding: email, chat, WhatsApp, phone</a:t>
            </a:r>
          </a:p>
          <a:p>
            <a:pPr>
              <a:spcAft>
                <a:spcPts val="600"/>
              </a:spcAft>
              <a:defRPr sz="1300">
                <a:solidFill>
                  <a:srgbClr val="7D8590"/>
                </a:solidFill>
              </a:defRPr>
            </a:pPr>
            <a:r>
              <a:t>▸ Business Hours Flag: 9AM–6PM detection</a:t>
            </a:r>
          </a:p>
          <a:p>
            <a:pPr>
              <a:spcAft>
                <a:spcPts val="600"/>
              </a:spcAft>
              <a:defRPr sz="1300">
                <a:solidFill>
                  <a:srgbClr val="7D8590"/>
                </a:solidFill>
              </a:defRPr>
            </a:pPr>
            <a:r>
              <a:t>▸ Gap Bucket: 0-6h, 6-12h, 12-24h, 24h+</a:t>
            </a:r>
          </a:p>
          <a:p>
            <a:pPr>
              <a:spcAft>
                <a:spcPts val="600"/>
              </a:spcAft>
              <a:defRPr sz="1300">
                <a:solidFill>
                  <a:srgbClr val="7D8590"/>
                </a:solidFill>
              </a:defRPr>
            </a:pPr>
            <a:r>
              <a:t>▸ Message Length: text complexity proxy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188720"/>
            <a:ext cx="3657600" cy="2103120"/>
          </a:xfrm>
          <a:prstGeom prst="roundRect">
            <a:avLst/>
          </a:prstGeom>
          <a:solidFill>
            <a:srgbClr val="141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3716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</a:defRPr>
            </a:pPr>
            <a:r>
              <a:t>🤖 Traditional ML Models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783080"/>
            <a:ext cx="3108960" cy="1325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7D8590"/>
                </a:solidFill>
              </a:defRPr>
            </a:pPr>
            <a:r>
              <a:t>▸ Logistic Regression (Baseline)</a:t>
            </a:r>
          </a:p>
          <a:p>
            <a:pPr>
              <a:spcAft>
                <a:spcPts val="600"/>
              </a:spcAft>
              <a:defRPr sz="1300">
                <a:solidFill>
                  <a:srgbClr val="7D8590"/>
                </a:solidFill>
              </a:defRPr>
            </a:pPr>
            <a:r>
              <a:t>▸ Naive Bayes (Probabilistic)</a:t>
            </a:r>
          </a:p>
          <a:p>
            <a:pPr>
              <a:spcAft>
                <a:spcPts val="600"/>
              </a:spcAft>
              <a:defRPr sz="1300">
                <a:solidFill>
                  <a:srgbClr val="7D8590"/>
                </a:solidFill>
              </a:defRPr>
            </a:pPr>
            <a:r>
              <a:t>▸ Decision Tree (Rule-based)</a:t>
            </a:r>
          </a:p>
          <a:p>
            <a:pPr>
              <a:spcAft>
                <a:spcPts val="600"/>
              </a:spcAft>
              <a:defRPr sz="1300">
                <a:solidFill>
                  <a:srgbClr val="7D8590"/>
                </a:solidFill>
              </a:defRPr>
            </a:pPr>
            <a:r>
              <a:t>▸ Random Forest (Bagging Ensemble)</a:t>
            </a:r>
          </a:p>
          <a:p>
            <a:pPr>
              <a:spcAft>
                <a:spcPts val="600"/>
              </a:spcAft>
              <a:defRPr sz="1300">
                <a:solidFill>
                  <a:srgbClr val="7D8590"/>
                </a:solidFill>
              </a:defRPr>
            </a:pPr>
            <a:r>
              <a:t>▸ XGBoost (Gradient Boosting)</a:t>
            </a:r>
          </a:p>
          <a:p>
            <a:pPr>
              <a:spcAft>
                <a:spcPts val="600"/>
              </a:spcAft>
              <a:defRPr sz="1300">
                <a:solidFill>
                  <a:srgbClr val="7D8590"/>
                </a:solidFill>
              </a:defRPr>
            </a:pPr>
            <a:r>
              <a:t>▸ Optuna-tuned XGBoost (Best: AUC 0.9794)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188720"/>
            <a:ext cx="3566160" cy="2103120"/>
          </a:xfrm>
          <a:prstGeom prst="roundRect">
            <a:avLst/>
          </a:prstGeom>
          <a:solidFill>
            <a:srgbClr val="141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3716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A78BFA"/>
                </a:solidFill>
              </a:defRPr>
            </a:pPr>
            <a:r>
              <a:t>🧠 Advanced Models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1783080"/>
            <a:ext cx="3017520" cy="1325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7D8590"/>
                </a:solidFill>
              </a:defRPr>
            </a:pPr>
            <a:r>
              <a:t>▸ Voting Ensemble (RF+XGB+LR)</a:t>
            </a:r>
          </a:p>
          <a:p>
            <a:pPr>
              <a:spcAft>
                <a:spcPts val="600"/>
              </a:spcAft>
              <a:defRPr sz="1300">
                <a:solidFill>
                  <a:srgbClr val="7D8590"/>
                </a:solidFill>
              </a:defRPr>
            </a:pPr>
            <a:r>
              <a:t>▸ Grand Ensemble (ML+DL soft-voting)</a:t>
            </a:r>
          </a:p>
          <a:p>
            <a:pPr>
              <a:spcAft>
                <a:spcPts val="600"/>
              </a:spcAft>
              <a:defRPr sz="1300">
                <a:solidFill>
                  <a:srgbClr val="7D8590"/>
                </a:solidFill>
              </a:defRPr>
            </a:pPr>
            <a:r>
              <a:t>▸ Deep Learning: PyTorch Neural Network</a:t>
            </a:r>
          </a:p>
          <a:p>
            <a:pPr>
              <a:spcAft>
                <a:spcPts val="600"/>
              </a:spcAft>
              <a:defRPr sz="1300">
                <a:solidFill>
                  <a:srgbClr val="7D8590"/>
                </a:solidFill>
              </a:defRPr>
            </a:pPr>
            <a:r>
              <a:t>▸   - Residual blocks + BatchNorm</a:t>
            </a:r>
          </a:p>
          <a:p>
            <a:pPr>
              <a:spcAft>
                <a:spcPts val="600"/>
              </a:spcAft>
              <a:defRPr sz="1300">
                <a:solidFill>
                  <a:srgbClr val="7D8590"/>
                </a:solidFill>
              </a:defRPr>
            </a:pPr>
            <a:r>
              <a:t>▸   - He init + GELU activation</a:t>
            </a:r>
          </a:p>
          <a:p>
            <a:pPr>
              <a:spcAft>
                <a:spcPts val="600"/>
              </a:spcAft>
              <a:defRPr sz="1300">
                <a:solidFill>
                  <a:srgbClr val="7D8590"/>
                </a:solidFill>
              </a:defRPr>
            </a:pPr>
            <a:r>
              <a:t>▸   - Class-weighted BCE loss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566160"/>
            <a:ext cx="3657600" cy="1463040"/>
          </a:xfrm>
          <a:prstGeom prst="roundRect">
            <a:avLst/>
          </a:prstGeom>
          <a:solidFill>
            <a:srgbClr val="141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749039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</a:defRPr>
            </a:pPr>
            <a:r>
              <a:t>📊 Unsupervised Learning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160520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7D8590"/>
                </a:solidFill>
              </a:defRPr>
            </a:pPr>
            <a:r>
              <a:t>▸ KMeans Clustering (3 segments)</a:t>
            </a:r>
          </a:p>
          <a:p>
            <a:pPr>
              <a:spcAft>
                <a:spcPts val="600"/>
              </a:spcAft>
              <a:defRPr sz="1300">
                <a:solidFill>
                  <a:srgbClr val="7D8590"/>
                </a:solidFill>
              </a:defRPr>
            </a:pPr>
            <a:r>
              <a:t>▸   - High-Intent-Missed</a:t>
            </a:r>
          </a:p>
          <a:p>
            <a:pPr>
              <a:spcAft>
                <a:spcPts val="600"/>
              </a:spcAft>
              <a:defRPr sz="1300">
                <a:solidFill>
                  <a:srgbClr val="7D8590"/>
                </a:solidFill>
              </a:defRPr>
            </a:pPr>
            <a:r>
              <a:t>▸   - Low-Intent</a:t>
            </a:r>
          </a:p>
          <a:p>
            <a:pPr>
              <a:spcAft>
                <a:spcPts val="600"/>
              </a:spcAft>
              <a:defRPr sz="1300">
                <a:solidFill>
                  <a:srgbClr val="7D8590"/>
                </a:solidFill>
              </a:defRPr>
            </a:pPr>
            <a:r>
              <a:t>▸   - Already-Converted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3566160"/>
            <a:ext cx="3657600" cy="1463040"/>
          </a:xfrm>
          <a:prstGeom prst="roundRect">
            <a:avLst/>
          </a:prstGeom>
          <a:solidFill>
            <a:srgbClr val="141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3749039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7171"/>
                </a:solidFill>
              </a:defRPr>
            </a:pPr>
            <a:r>
              <a:t>⚙️ Optuna Tuning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4160520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7D8590"/>
                </a:solidFill>
              </a:defRPr>
            </a:pPr>
            <a:r>
              <a:t>▸ 100 trials with TPE sampler</a:t>
            </a:r>
          </a:p>
          <a:p>
            <a:pPr>
              <a:spcAft>
                <a:spcPts val="600"/>
              </a:spcAft>
              <a:defRPr sz="1300">
                <a:solidFill>
                  <a:srgbClr val="7D8590"/>
                </a:solidFill>
              </a:defRPr>
            </a:pPr>
            <a:r>
              <a:t>▸ 5-fold stratified cross-validation</a:t>
            </a:r>
          </a:p>
          <a:p>
            <a:pPr>
              <a:spcAft>
                <a:spcPts val="600"/>
              </a:spcAft>
              <a:defRPr sz="1300">
                <a:solidFill>
                  <a:srgbClr val="7D8590"/>
                </a:solidFill>
              </a:defRPr>
            </a:pPr>
            <a:r>
              <a:t>▸ Optimized: n_estimators, max_depth,</a:t>
            </a:r>
          </a:p>
          <a:p>
            <a:pPr>
              <a:spcAft>
                <a:spcPts val="600"/>
              </a:spcAft>
              <a:defRPr sz="1300">
                <a:solidFill>
                  <a:srgbClr val="7D8590"/>
                </a:solidFill>
              </a:defRPr>
            </a:pPr>
            <a:r>
              <a:t>▸   learning_rate, subsample, gamma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3566160"/>
            <a:ext cx="3566160" cy="1463040"/>
          </a:xfrm>
          <a:prstGeom prst="roundRect">
            <a:avLst/>
          </a:prstGeom>
          <a:solidFill>
            <a:srgbClr val="141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3749039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</a:defRPr>
            </a:pPr>
            <a:r>
              <a:t>🏆 Model Performance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4160520"/>
            <a:ext cx="3017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7D8590"/>
                </a:solidFill>
              </a:defRPr>
            </a:pPr>
            <a:r>
              <a:t>▸ XGBoost Tuned: AUC 0.9794</a:t>
            </a:r>
          </a:p>
          <a:p>
            <a:pPr>
              <a:spcAft>
                <a:spcPts val="600"/>
              </a:spcAft>
              <a:defRPr sz="1300">
                <a:solidFill>
                  <a:srgbClr val="7D8590"/>
                </a:solidFill>
              </a:defRPr>
            </a:pPr>
            <a:r>
              <a:t>▸ Random Forest: AUC 0.9725</a:t>
            </a:r>
          </a:p>
          <a:p>
            <a:pPr>
              <a:spcAft>
                <a:spcPts val="600"/>
              </a:spcAft>
              <a:defRPr sz="1300">
                <a:solidFill>
                  <a:srgbClr val="7D8590"/>
                </a:solidFill>
              </a:defRPr>
            </a:pPr>
            <a:r>
              <a:t>▸ Grand Ensemble: AUC 0.9709</a:t>
            </a:r>
          </a:p>
          <a:p>
            <a:pPr>
              <a:spcAft>
                <a:spcPts val="600"/>
              </a:spcAft>
              <a:defRPr sz="1300">
                <a:solidFill>
                  <a:srgbClr val="7D8590"/>
                </a:solidFill>
              </a:defRPr>
            </a:pPr>
            <a:r>
              <a:t>▸ Deep Learning: AUC 0.9613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212080"/>
            <a:ext cx="11247120" cy="1463040"/>
          </a:xfrm>
          <a:prstGeom prst="roundRect">
            <a:avLst/>
          </a:prstGeom>
          <a:solidFill>
            <a:srgbClr val="141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3949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🎯 Smart Reply Engine — 8 Intent Categories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80644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7D8590"/>
                </a:solidFill>
              </a:defRPr>
            </a:pPr>
            <a:r>
              <a:t>▸ Pricing | Demo | Course | Placement | Complaint | Interest | Availability | Urgent</a:t>
            </a:r>
          </a:p>
          <a:p>
            <a:pPr>
              <a:spcAft>
                <a:spcPts val="600"/>
              </a:spcAft>
              <a:defRPr sz="1300">
                <a:solidFill>
                  <a:srgbClr val="7D8590"/>
                </a:solidFill>
              </a:defRPr>
            </a:pPr>
            <a:r>
              <a:t>▸ Each intent has multiple template variations for natural variety — clients cannot tell replies are automated</a:t>
            </a:r>
          </a:p>
          <a:p>
            <a:pPr>
              <a:spcAft>
                <a:spcPts val="600"/>
              </a:spcAft>
              <a:defRPr sz="1300">
                <a:solidFill>
                  <a:srgbClr val="7D8590"/>
                </a:solidFill>
              </a:defRPr>
            </a:pPr>
            <a:r>
              <a:t>▸ Intent detection uses keyword scoring with normalized confidence scores across all 8 categories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6EDF3"/>
                </a:solidFill>
              </a:defRPr>
            </a:pPr>
            <a:r>
              <a:t>System Architecture &amp;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2743200" cy="274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1645920" cy="914400"/>
          </a:xfrm>
          <a:prstGeom prst="roundRect">
            <a:avLst/>
          </a:prstGeom>
          <a:solidFill>
            <a:srgbClr val="141822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6EDF3"/>
                </a:solidFill>
              </a:defRPr>
            </a:pPr>
            <a:r>
              <a:t>📧 Gmail Inbox</a:t>
            </a:r>
            <a:br/>
            <a:r>
              <a:t>(IMAP Fetch)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148840" y="1554480"/>
            <a:ext cx="182880" cy="274320"/>
          </a:xfrm>
          <a:prstGeom prst="rightArrow">
            <a:avLst/>
          </a:prstGeom>
          <a:solidFill>
            <a:srgbClr val="48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377440" y="1280160"/>
            <a:ext cx="1645920" cy="914400"/>
          </a:xfrm>
          <a:prstGeom prst="roundRect">
            <a:avLst/>
          </a:prstGeom>
          <a:solidFill>
            <a:srgbClr val="141822"/>
          </a:solidFill>
          <a:ln w="25400">
            <a:solidFill>
              <a:srgbClr val="7D85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68880" y="137160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6EDF3"/>
                </a:solidFill>
              </a:defRPr>
            </a:pPr>
            <a:r>
              <a:t>🔍 Newsletter</a:t>
            </a:r>
            <a:br/>
            <a:r>
              <a:t>Filter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069080" y="1554480"/>
            <a:ext cx="182880" cy="274320"/>
          </a:xfrm>
          <a:prstGeom prst="rightArrow">
            <a:avLst/>
          </a:prstGeom>
          <a:solidFill>
            <a:srgbClr val="48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297680" y="1280160"/>
            <a:ext cx="1645920" cy="914400"/>
          </a:xfrm>
          <a:prstGeom prst="roundRect">
            <a:avLst/>
          </a:prstGeom>
          <a:solidFill>
            <a:srgbClr val="141822"/>
          </a:solidFill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37160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6EDF3"/>
                </a:solidFill>
              </a:defRPr>
            </a:pPr>
            <a:r>
              <a:t>🤖 ML Scoring</a:t>
            </a:r>
            <a:br/>
            <a:r>
              <a:t>(8 Models)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989320" y="1554480"/>
            <a:ext cx="182880" cy="274320"/>
          </a:xfrm>
          <a:prstGeom prst="rightArrow">
            <a:avLst/>
          </a:prstGeom>
          <a:solidFill>
            <a:srgbClr val="48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20" y="1280160"/>
            <a:ext cx="1645920" cy="914400"/>
          </a:xfrm>
          <a:prstGeom prst="roundRect">
            <a:avLst/>
          </a:prstGeom>
          <a:solidFill>
            <a:srgbClr val="141822"/>
          </a:solidFill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37160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6EDF3"/>
                </a:solidFill>
              </a:defRPr>
            </a:pPr>
            <a:r>
              <a:t>💬 Smart Reply</a:t>
            </a:r>
            <a:br/>
            <a:r>
              <a:t>Engine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909560" y="1554480"/>
            <a:ext cx="182880" cy="274320"/>
          </a:xfrm>
          <a:prstGeom prst="rightArrow">
            <a:avLst/>
          </a:prstGeom>
          <a:solidFill>
            <a:srgbClr val="48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38160" y="1280160"/>
            <a:ext cx="1645920" cy="914400"/>
          </a:xfrm>
          <a:prstGeom prst="roundRect">
            <a:avLst/>
          </a:prstGeom>
          <a:solidFill>
            <a:srgbClr val="141822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137160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6EDF3"/>
                </a:solidFill>
              </a:defRPr>
            </a:pPr>
            <a:r>
              <a:t>📤 Auto-Reply</a:t>
            </a:r>
            <a:br/>
            <a:r>
              <a:t>(SMTP)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9829800" y="1554480"/>
            <a:ext cx="182880" cy="274320"/>
          </a:xfrm>
          <a:prstGeom prst="rightArrow">
            <a:avLst/>
          </a:prstGeom>
          <a:solidFill>
            <a:srgbClr val="48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058400" y="1280160"/>
            <a:ext cx="1645920" cy="914400"/>
          </a:xfrm>
          <a:prstGeom prst="roundRect">
            <a:avLst/>
          </a:prstGeom>
          <a:solidFill>
            <a:srgbClr val="141822"/>
          </a:solidFill>
          <a:ln w="254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0" y="137160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6EDF3"/>
                </a:solidFill>
              </a:defRPr>
            </a:pPr>
            <a:r>
              <a:t>🔔 Notifications</a:t>
            </a:r>
            <a:br/>
            <a:r>
              <a:t>(Email+Dashboard)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2560320"/>
            <a:ext cx="5486400" cy="1645920"/>
          </a:xfrm>
          <a:prstGeom prst="roundRect">
            <a:avLst/>
          </a:prstGeom>
          <a:solidFill>
            <a:srgbClr val="141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27432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📧 Email Integration (IMAP/SMTP)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154679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7D8590"/>
                </a:solidFill>
              </a:defRPr>
            </a:pPr>
            <a:r>
              <a:t>▸ IMAP4_SSL fetches Gmail inbox with promotional filter</a:t>
            </a:r>
          </a:p>
          <a:p>
            <a:pPr>
              <a:spcAft>
                <a:spcPts val="600"/>
              </a:spcAft>
              <a:defRPr sz="1300">
                <a:solidFill>
                  <a:srgbClr val="7D8590"/>
                </a:solidFill>
              </a:defRPr>
            </a:pPr>
            <a:r>
              <a:t>▸ Deduplicates via Message-ID tracking</a:t>
            </a:r>
          </a:p>
          <a:p>
            <a:pPr>
              <a:spcAft>
                <a:spcPts val="600"/>
              </a:spcAft>
              <a:defRPr sz="1300">
                <a:solidFill>
                  <a:srgbClr val="7D8590"/>
                </a:solidFill>
              </a:defRPr>
            </a:pPr>
            <a:r>
              <a:t>▸ SMTP threaded replies with In-Reply-To headers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2560320"/>
            <a:ext cx="5486400" cy="1645920"/>
          </a:xfrm>
          <a:prstGeom prst="roundRect">
            <a:avLst/>
          </a:prstGeom>
          <a:solidFill>
            <a:srgbClr val="141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27432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</a:defRPr>
            </a:pPr>
            <a:r>
              <a:t>🤖 ML Scoring Pipeline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154679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7D8590"/>
                </a:solidFill>
              </a:defRPr>
            </a:pPr>
            <a:r>
              <a:t>▸ Grand Ensemble: 50% ML + 50% DL (soft-voting)</a:t>
            </a:r>
          </a:p>
          <a:p>
            <a:pPr>
              <a:spcAft>
                <a:spcPts val="600"/>
              </a:spcAft>
              <a:defRPr sz="1300">
                <a:solidFill>
                  <a:srgbClr val="7D8590"/>
                </a:solidFill>
              </a:defRPr>
            </a:pPr>
            <a:r>
              <a:t>▸ XGBoost tuned with Optuna (100 trials, TPE sampler)</a:t>
            </a:r>
          </a:p>
          <a:p>
            <a:pPr>
              <a:spcAft>
                <a:spcPts val="600"/>
              </a:spcAft>
              <a:defRPr sz="1300">
                <a:solidFill>
                  <a:srgbClr val="7D8590"/>
                </a:solidFill>
              </a:defRPr>
            </a:pPr>
            <a:r>
              <a:t>▸ Feature engineering: 9 features per lead</a:t>
            </a:r>
          </a:p>
        </p:txBody>
      </p:sp>
      <p:pic>
        <p:nvPicPr>
          <p:cNvPr id="27" name="Picture 26" descr="syst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389120"/>
            <a:ext cx="1124712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6EDF3"/>
                </a:solidFill>
              </a:defRPr>
            </a:pPr>
            <a:r>
              <a:t>Results &amp; Model Performance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2743200" cy="274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7315200" cy="457200"/>
          </a:xfrm>
          <a:prstGeom prst="roundRect">
            <a:avLst/>
          </a:prstGeom>
          <a:solidFill>
            <a:srgbClr val="1E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6766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6766560" cy="-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7D8590"/>
                </a:solidFill>
              </a:defRPr>
            </a:pPr>
            <a:r>
              <a:t>▸ Model                                              AUC Score    Note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7315200" cy="411480"/>
          </a:xfrm>
          <a:prstGeom prst="roundRect">
            <a:avLst/>
          </a:prstGeom>
          <a:solidFill>
            <a:srgbClr val="141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6766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731520" y="2331720"/>
            <a:ext cx="6766560" cy="-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7D8590"/>
                </a:solidFill>
              </a:defRPr>
            </a:pPr>
            <a:r>
              <a:t>▸ XGBoost (Optuna-tuned)                   0.9794       🏆 Best ML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240280"/>
            <a:ext cx="7315200" cy="411480"/>
          </a:xfrm>
          <a:prstGeom prst="roundRect">
            <a:avLst/>
          </a:prstGeom>
          <a:solidFill>
            <a:srgbClr val="18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423160"/>
            <a:ext cx="6766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731520" y="2834640"/>
            <a:ext cx="6766560" cy="-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7D8590"/>
                </a:solidFill>
              </a:defRPr>
            </a:pPr>
            <a:r>
              <a:t>▸ RandomForest                             0.9725       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743200"/>
            <a:ext cx="7315200" cy="411480"/>
          </a:xfrm>
          <a:prstGeom prst="roundRect">
            <a:avLst/>
          </a:prstGeom>
          <a:solidFill>
            <a:srgbClr val="141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926080"/>
            <a:ext cx="6766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731520" y="3337560"/>
            <a:ext cx="6766560" cy="-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7D8590"/>
                </a:solidFill>
              </a:defRPr>
            </a:pPr>
            <a:r>
              <a:t>▸ Ensemble (RF+XGB+LR)                     0.9720       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246120"/>
            <a:ext cx="7315200" cy="411480"/>
          </a:xfrm>
          <a:prstGeom prst="roundRect">
            <a:avLst/>
          </a:prstGeom>
          <a:solidFill>
            <a:srgbClr val="18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429000"/>
            <a:ext cx="6766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A78BFA"/>
                </a:solidFill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731520" y="3840480"/>
            <a:ext cx="6766560" cy="-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7D8590"/>
                </a:solidFill>
              </a:defRPr>
            </a:pPr>
            <a:r>
              <a:t>▸ Grand Ensemble (ML+DL)                   0.9709       🎯 Overall Best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749039"/>
            <a:ext cx="7315200" cy="411480"/>
          </a:xfrm>
          <a:prstGeom prst="roundRect">
            <a:avLst/>
          </a:prstGeom>
          <a:solidFill>
            <a:srgbClr val="141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931920"/>
            <a:ext cx="6766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A78BFA"/>
                </a:solidFill>
              </a:defRPr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731520" y="4343400"/>
            <a:ext cx="6766560" cy="-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7D8590"/>
                </a:solidFill>
              </a:defRPr>
            </a:pPr>
            <a:r>
              <a:t>▸ Deep Learning (PyTorch)                  0.9613       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251960"/>
            <a:ext cx="7315200" cy="411480"/>
          </a:xfrm>
          <a:prstGeom prst="roundRect">
            <a:avLst/>
          </a:prstGeom>
          <a:solidFill>
            <a:srgbClr val="18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434840"/>
            <a:ext cx="6766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731520" y="4846320"/>
            <a:ext cx="6766560" cy="-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7D8590"/>
                </a:solidFill>
              </a:defRPr>
            </a:pPr>
            <a:r>
              <a:t>▸ Decision Tree                            0.9627       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754880"/>
            <a:ext cx="7315200" cy="411480"/>
          </a:xfrm>
          <a:prstGeom prst="roundRect">
            <a:avLst/>
          </a:prstGeom>
          <a:solidFill>
            <a:srgbClr val="141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937760"/>
            <a:ext cx="6766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7D8590"/>
                </a:solidFill>
              </a:defRPr>
            </a:pPr>
          </a:p>
        </p:txBody>
      </p:sp>
      <p:sp>
        <p:nvSpPr>
          <p:cNvPr id="27" name="TextBox 26"/>
          <p:cNvSpPr txBox="1"/>
          <p:nvPr/>
        </p:nvSpPr>
        <p:spPr>
          <a:xfrm>
            <a:off x="731520" y="5349240"/>
            <a:ext cx="6766560" cy="-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7D8590"/>
                </a:solidFill>
              </a:defRPr>
            </a:pPr>
            <a:r>
              <a:t>▸ Logistic Regression                      0.9132       Baseline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5257800"/>
            <a:ext cx="7315200" cy="411480"/>
          </a:xfrm>
          <a:prstGeom prst="roundRect">
            <a:avLst/>
          </a:prstGeom>
          <a:solidFill>
            <a:srgbClr val="181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5440680"/>
            <a:ext cx="6766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7D8590"/>
                </a:solidFill>
              </a:defRPr>
            </a:pPr>
          </a:p>
        </p:txBody>
      </p:sp>
      <p:sp>
        <p:nvSpPr>
          <p:cNvPr id="30" name="TextBox 29"/>
          <p:cNvSpPr txBox="1"/>
          <p:nvPr/>
        </p:nvSpPr>
        <p:spPr>
          <a:xfrm>
            <a:off x="731520" y="5852160"/>
            <a:ext cx="6766560" cy="-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7D8590"/>
                </a:solidFill>
              </a:defRPr>
            </a:pPr>
            <a:r>
              <a:t>▸ Naive Bayes                              0.8604       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46720" y="1188720"/>
            <a:ext cx="3657600" cy="1371600"/>
          </a:xfrm>
          <a:prstGeom prst="roundRect">
            <a:avLst/>
          </a:prstGeom>
          <a:solidFill>
            <a:srgbClr val="141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21040" y="13716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📊 Dataset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178308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7D8590"/>
                </a:solidFill>
              </a:defRPr>
            </a:pPr>
            <a:r>
              <a:t>▸ Total: 13,740 samples</a:t>
            </a:r>
          </a:p>
          <a:p>
            <a:pPr>
              <a:spcAft>
                <a:spcPts val="600"/>
              </a:spcAft>
              <a:defRPr sz="1300">
                <a:solidFill>
                  <a:srgbClr val="7D8590"/>
                </a:solidFill>
              </a:defRPr>
            </a:pPr>
            <a:r>
              <a:t>▸ Synthetic: 500 leads</a:t>
            </a:r>
          </a:p>
          <a:p>
            <a:pPr>
              <a:spcAft>
                <a:spcPts val="600"/>
              </a:spcAft>
              <a:defRPr sz="1300">
                <a:solidFill>
                  <a:srgbClr val="7D8590"/>
                </a:solidFill>
              </a:defRPr>
            </a:pPr>
            <a:r>
              <a:t>▸ Kaggle Lead Scoring: 9,240</a:t>
            </a:r>
          </a:p>
          <a:p>
            <a:pPr>
              <a:spcAft>
                <a:spcPts val="600"/>
              </a:spcAft>
              <a:defRPr sz="1300">
                <a:solidFill>
                  <a:srgbClr val="7D8590"/>
                </a:solidFill>
              </a:defRPr>
            </a:pPr>
            <a:r>
              <a:t>▸ Kaggle Support Tickets: 4,000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46720" y="2743200"/>
            <a:ext cx="3657600" cy="1371600"/>
          </a:xfrm>
          <a:prstGeom prst="roundRect">
            <a:avLst/>
          </a:prstGeom>
          <a:solidFill>
            <a:srgbClr val="141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21040" y="29260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</a:defRPr>
            </a:pPr>
            <a:r>
              <a:t>⚙️ Training Config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333756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7D8590"/>
                </a:solidFill>
              </a:defRPr>
            </a:pPr>
            <a:r>
              <a:t>▸ 5-fold Stratified CV</a:t>
            </a:r>
          </a:p>
          <a:p>
            <a:pPr>
              <a:spcAft>
                <a:spcPts val="600"/>
              </a:spcAft>
              <a:defRPr sz="1300">
                <a:solidFill>
                  <a:srgbClr val="7D8590"/>
                </a:solidFill>
              </a:defRPr>
            </a:pPr>
            <a:r>
              <a:t>▸ 80/20 Train-Test Split</a:t>
            </a:r>
          </a:p>
          <a:p>
            <a:pPr>
              <a:spcAft>
                <a:spcPts val="600"/>
              </a:spcAft>
              <a:defRPr sz="1300">
                <a:solidFill>
                  <a:srgbClr val="7D8590"/>
                </a:solidFill>
              </a:defRPr>
            </a:pPr>
            <a:r>
              <a:t>▸ StandardScaler normalization</a:t>
            </a:r>
          </a:p>
          <a:p>
            <a:pPr>
              <a:spcAft>
                <a:spcPts val="600"/>
              </a:spcAft>
              <a:defRPr sz="1300">
                <a:solidFill>
                  <a:srgbClr val="7D8590"/>
                </a:solidFill>
              </a:defRPr>
            </a:pPr>
            <a:r>
              <a:t>▸ Early stopping (patience=20)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46720" y="4297680"/>
            <a:ext cx="3657600" cy="1371600"/>
          </a:xfrm>
          <a:prstGeom prst="roundRect">
            <a:avLst/>
          </a:prstGeom>
          <a:solidFill>
            <a:srgbClr val="141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21040" y="44805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A78BFA"/>
                </a:solidFill>
              </a:defRPr>
            </a:pPr>
            <a:r>
              <a:t>🔧 Hyperparameters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489204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7D8590"/>
                </a:solidFill>
              </a:defRPr>
            </a:pPr>
            <a:r>
              <a:t>▸ XGBoost: 100 trials (Optuna)</a:t>
            </a:r>
          </a:p>
          <a:p>
            <a:pPr>
              <a:spcAft>
                <a:spcPts val="600"/>
              </a:spcAft>
              <a:defRPr sz="1300">
                <a:solidFill>
                  <a:srgbClr val="7D8590"/>
                </a:solidFill>
              </a:defRPr>
            </a:pPr>
            <a:r>
              <a:t>▸ DL: 200 epochs max, batch=64</a:t>
            </a:r>
          </a:p>
          <a:p>
            <a:pPr>
              <a:spcAft>
                <a:spcPts val="600"/>
              </a:spcAft>
              <a:defRPr sz="1300">
                <a:solidFill>
                  <a:srgbClr val="7D8590"/>
                </a:solidFill>
              </a:defRPr>
            </a:pPr>
            <a:r>
              <a:t>▸ Dropout: 0.3, LR: 1e-3</a:t>
            </a:r>
          </a:p>
          <a:p>
            <a:pPr>
              <a:spcAft>
                <a:spcPts val="600"/>
              </a:spcAft>
              <a:defRPr sz="1300">
                <a:solidFill>
                  <a:srgbClr val="7D8590"/>
                </a:solidFill>
              </a:defRPr>
            </a:pPr>
            <a:r>
              <a:t>▸ Weight decay: 1e-4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46720" y="5669280"/>
            <a:ext cx="3657600" cy="914400"/>
          </a:xfrm>
          <a:prstGeom prst="roundRect">
            <a:avLst/>
          </a:prstGeom>
          <a:solidFill>
            <a:srgbClr val="141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21040" y="58521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</a:defRPr>
            </a:pPr>
            <a:r>
              <a:t>💡 Key Insight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21040" y="6263640"/>
            <a:ext cx="31089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7D8590"/>
                </a:solidFill>
              </a:defRPr>
            </a:pPr>
            <a:r>
              <a:t>▸ Grand Ensemble (ML+DL) achieves</a:t>
            </a:r>
          </a:p>
          <a:p>
            <a:pPr>
              <a:spcAft>
                <a:spcPts val="600"/>
              </a:spcAft>
              <a:defRPr sz="1300">
                <a:solidFill>
                  <a:srgbClr val="7D8590"/>
                </a:solidFill>
              </a:defRPr>
            </a:pPr>
            <a:r>
              <a:t>▸ best overall performance by combining</a:t>
            </a:r>
          </a:p>
          <a:p>
            <a:pPr>
              <a:spcAft>
                <a:spcPts val="600"/>
              </a:spcAft>
              <a:defRPr sz="1300">
                <a:solidFill>
                  <a:srgbClr val="7D8590"/>
                </a:solidFill>
              </a:defRPr>
            </a:pPr>
            <a:r>
              <a:t>▸ strengths of both paradigms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E6EDF3"/>
                </a:solidFill>
              </a:defRPr>
            </a:pPr>
            <a: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38BDF8"/>
                </a:solidFill>
              </a:defRPr>
            </a:pPr>
            <a:r>
              <a:t>Missed-Lead Detector — AI-Powered Sales Command Center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3931920"/>
            <a:ext cx="274320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7D8590"/>
                </a:solidFill>
              </a:defRPr>
            </a:pPr>
            <a:r>
              <a:t>CIT Chennai • Batch 2025-27</a:t>
            </a:r>
            <a:br/>
            <a:r>
              <a:t>AD4V71 — Machine Learning Operations (MLOps)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