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578"/>
    <a:srgbClr val="FF6600"/>
    <a:srgbClr val="FF0066"/>
    <a:srgbClr val="F3F7FF"/>
    <a:srgbClr val="DDE8FF"/>
    <a:srgbClr val="F3FAFF"/>
    <a:srgbClr val="E7F5FF"/>
    <a:srgbClr val="CDEAFF"/>
    <a:srgbClr val="FEF8FC"/>
    <a:srgbClr val="FC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1F40F-165E-40CE-AF84-6CDB68BF8700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F90F1-2467-457D-99A5-5A9343904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343C-8127-1258-E9DF-EE5FBB973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6CF94-B4A4-7FB2-3E23-B287C5F6E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7579-6D5E-5D38-4156-0A63CE33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69B0-AE88-EBAB-1331-035CAEC8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ADCF-9A84-5546-D595-ED3A7C1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AC58-4E75-B9B4-DD8B-4D25F604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D94A-A679-5F94-E4F6-8DD7AA86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7952-64D6-6E1D-61AF-B7D79DB1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82CD7-F904-E353-548C-CACAD9D1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3595-DC14-D85B-D84A-2DF824ED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2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476-CF38-1D79-ED27-C733048D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8F996-4D87-8A99-8A9A-01379E37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56F3-D2F0-52E7-DC1B-0C486FFB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7E55-4628-1157-274A-3EF14585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53F6C-BA0B-A877-BF17-8B45E9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8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4AF7-7823-341A-3744-75DC63C3A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FEFD-F9C3-3DAE-858E-00D887944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D1562-ABF0-CC28-D2C4-C633152C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EE5AA-EA07-6D83-B362-B76F665A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3023A-F339-B53D-7E4A-2444445A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2E6C6-AB7F-4959-6D62-21B78754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9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9E3A-6BB5-BA55-C8E7-1830CB5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67B83-98A9-9B9C-5C0C-9733C5EC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E86CD-DA3D-D391-8FAA-38FBA9CFF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1F7CF-FE7E-CE5D-EF9C-9E2D7FD39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48E8C-68D9-E64F-1BE4-B9C265D36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CF674-9A3A-3044-645F-E8052F9B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B99EB-4BF6-48AE-D4AC-8C09B612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6F228-AB23-AF97-9C06-8CCB6934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7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DD9D-E95C-3CDA-6C7A-23542737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E453C-3392-3A29-A015-13DB08E6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D47A0-CF43-F356-0270-F4DF4727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9356C-6631-9C3A-AE27-AD51D4C1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0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D4A0C-5A28-2B3C-8975-67D09ED1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47152-AF98-DFA8-628D-8204B135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8FA1-05D6-E569-A37A-E51368C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2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BF50-0C1D-BD91-DD07-B1F880FE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D7D4-BDCA-BC98-E234-3EE780F0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94E5-BD7D-58BF-E1E3-217A84801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7B03F-ADE7-373C-C062-83B1106B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AD0E-F03E-82E7-CB51-F87CA422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C2178-89AE-2D65-3C8A-C80DD8C2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4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942F-D40E-0AA3-0409-4AD39B39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3E1BA-37F0-2DEA-B7FE-7FD565BFC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AE0E8-D94A-3534-C8B6-58AE529E7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DCC99-9E10-09F9-AD30-FF6E9144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F6FBC-07D0-7226-C83D-F484DE16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8E6EC-1C36-2D56-53B9-AAC08C98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ED5E-E518-1462-9F03-02EB2A35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73FA3-723E-3C3F-511B-0B95F1BD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E419-E8D7-3672-2612-A7604BE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8BAEA-896A-AD8A-285C-C9D9ACED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B0A7-2238-48EC-922E-1EB2F121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D2BAD-FA66-E62B-2199-72CACB838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04CA8-A123-79DB-FECA-162237D1B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22216-AD79-4A9C-5C9A-1DDECCB8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00899-63C0-CE8F-6DB3-E5957E1E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2E4F-8D10-2A48-F1B7-063AF1AE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030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11D91-9AC8-31CA-8712-A7ECA0E4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4E577-CF97-9AEF-4526-D8738FE5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AAA1C-BFE5-D2C1-7E75-080D51409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ACD0C-F12A-4D68-B39F-1F8622420AB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E625-6497-CFBC-C695-85968D6B8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110E-1343-465B-DA09-01A34C241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1A1A2E"/>
                </a:solidFill>
                <a:latin typeface="Cambria"/>
              </a:rPr>
              <a:t>AI-Powered Missed-Lead Detection
and Automated Follow-Up System
for Customer Retention in Sales Pipelines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400">
                <a:solidFill>
                  <a:srgbClr val="333333"/>
                </a:solidFill>
                <a:latin typeface="Times New Roman"/>
              </a:rPr>
              <a:t>Problem Identification &amp; Title Justification
Team Members:
JAI VIJAI M — 210425243091
ARUNKUMAR I — 210425243028
CIT Chennai | AIDS | Batch 2025-27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Relevance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Sales teams lose 30–50% of inbound leads due to slow or missed responses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Industries affected: Ed-Tech, E-Commerce, Real Estate, Healthcare, Consulting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Every hour of delay reduces conversion probability by 7× (InsideSales.com study)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Small and medium businesses lack dedicated CRM teams to track every inquiry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Customer expectations have shifted — 78% expect a response within 24 hours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Google, HubSpot, and Salesforce studies confirm this trend across industries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Manual inbox monitoring is error-prone, especially with high email volume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Missed leads directly impact revenue, brand reputation, and customer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Clarity of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Core Problem: Customers express interest but staff fail to respond on time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Result: 30–50% of potential customers never receive a timely follow-up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Root Cause: High inbox volume, manual monitoring, no automated alerts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Sales teams handle 100+ emails/day with no priority ranking system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Consequence: Customers leave for competitors, revenue loss, poor retention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Studies show 44% of salespeople give up after one follow-up attempt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Current Gap: No existing system combines ML detection + auto-reply + tracking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Existing tools (HubSpot, Zoho) offer CRM but not ML-based lead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Justification of 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"AI-Powered" — Uses ML (XGBoost, Random Forest) + Deep Learning (PyTorch)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8 models trained: XGBoost (AUC 0.9794), RF, Ensemble, DL, and more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"Missed-Lead Detection" — Identifies leads that slipped through without response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ML scores each email for missed-lead probability using 9 engineered features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"Automated Follow-Up" — Sends human-like replies via SMTP without manual effort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Smart Reply Engine generates intent-aware, human-like responses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"Customer Retention" — Prevents attrition caused by unattended inquiries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Tracks follow-ups and alerts sales team when human action is needed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"Sales Pipelines" — Designed for end-to-end lead lifecycle management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Works with Gmail inbox, supports demo and production 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Detect missed leads automatically using machine learning models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Models: XGBoost, Random Forest, Ensemble, PyTorch Deep Learning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Classify customer intent (pricing, demo, placement, complaint, etc.)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8 intent categories: pricing, demo, course, placement, complaint, interest, availability, urgent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Generate and send contextual, human-like auto-replies via email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Threaded SMTP replies — client cannot distinguish from manual response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Alert the sales team via email, desktop popups, and dashboard notifications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Multi-channel: email alerts + tkinter desktop popups + Streamlit notifications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Track follow-up status and flag overdue leads after 24 hours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Provide a real-time Streamlit dashboard for monitoring and analytics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Achieve high predictive accuracy (target AUC &gt; 0.95)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In Scope: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Emails filtered: newsletters, OTP, banking alerts, social notifications, auto-replies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Gmail inbox monitoring via IMAP with 8-layer email filtering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Grand Ensemble combines ML + DL for highest accuracy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ML-based lead scoring with 9 engineered features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Automated reply generation and SMTP delivery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24-hour threshold, 48-hour escalation, configurable via dashboard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Follow-up tracking with overdue escalation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Streamlit dashboard with 6 interactive pages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GitHub Actions scheduling for continuous monitoring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Out of Scope: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WhatsApp, SMS, or social media integration (future work)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Real-time CRM database integration (planned for Phase 2)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Multi-language support for international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Basic Concepts Related to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Supervised Learning — Logistic Regression, Naive Bayes, Decision Tree, Random Forest, XGBoost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Ensemble Learning — Voting Classifier (RF + XGB + LR) with soft voting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Grand Ensemble: 50/50 soft voting between ML ensemble and DL probabilities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Deep Learning — PyTorch feedforward network with BatchNorm, Dropout, residual connections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GPU-accelerated, class-weighted loss, early stopping, LR scheduling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Feature Engineering — Intent scoring, business hours detection, response gap binning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Unsupervised Learning — K-Means clustering for customer segmentation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3 segments: High-Intent-Missed, Low-Intent, Already-Converted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NLP / Intent Detection — Hugging Face DistilBERT zero-shot classification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Email Protocols — IMAP for reading, SMTP for sending, threaded reply headers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Evaluation Metrics — ROC-AUC, F1-Score, 5-fold Stratified Cross-Validation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Data Flow: Gmail Inbox → IMAP Fetch → 8-Layer Filtering → Feature Extraction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Filters: own emails, auto-replies, duplicates, noreply, promotions, OTP, banking, social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ML Pipeline: 9 Features → StandardScaler → Grand Ensemble (ML + DL) → Score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XGBoost (AUC 0.9794) + RandomForest + LogisticRegression + PyTorch DL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Decision: Missed Probability ≥ 0.50 → Flagged as Missed Lead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Action: Auto-Reply via SMTP + Notifications + Follow-Up Tracking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Email alerts, desktop popups, daily digest, recovery rate monitoring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Times New Roman"/>
              </a:rPr>
              <a:t>Dashboard: Streamlit with Command Center, Lead Explorer, Performance Analytics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Times New Roman"/>
              </a:rPr>
              <a:t>6 pages: Command Center, Lead Explorer, Auto-Replies, Pipeline Graph, Performance,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1A1A2E"/>
                </a:solidFill>
                <a:latin typeface="Cambria"/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600">
                <a:solidFill>
                  <a:srgbClr val="555555"/>
                </a:solidFill>
                <a:latin typeface="Times New Roman"/>
              </a:rPr>
              <a:t>AI-Powered Missed-Lead Detection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444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</vt:lpstr>
      <vt:lpstr>Times New Roman</vt:lpstr>
      <vt:lpstr>Office Theme</vt:lpstr>
      <vt:lpstr>PowerPoint Presentation</vt:lpstr>
      <vt:lpstr>Problem Identification and Title Justification</vt:lpstr>
      <vt:lpstr>Machine Learning Fundamentals</vt:lpstr>
      <vt:lpstr>Literature Survey</vt:lpstr>
      <vt:lpstr>Objectives of the Project</vt:lpstr>
      <vt:lpstr>Project Planning and Time Schedule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Perike</dc:creator>
  <cp:lastModifiedBy>Jai Vijai</cp:lastModifiedBy>
  <cp:revision>293</cp:revision>
  <dcterms:created xsi:type="dcterms:W3CDTF">2026-06-12T06:07:18Z</dcterms:created>
  <dcterms:modified xsi:type="dcterms:W3CDTF">2026-06-22T16:32:54Z</dcterms:modified>
</cp:coreProperties>
</file>