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F1578"/>
    <a:srgbClr val="FF6600"/>
    <a:srgbClr val="FF0066"/>
    <a:srgbClr val="F3F7FF"/>
    <a:srgbClr val="DDE8FF"/>
    <a:srgbClr val="F3FAFF"/>
    <a:srgbClr val="E7F5FF"/>
    <a:srgbClr val="CDEAFF"/>
    <a:srgbClr val="FEF8FC"/>
    <a:srgbClr val="FCEA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9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21F40F-165E-40CE-AF84-6CDB68BF8700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7F90F1-2467-457D-99A5-5A93439040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246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F343C-8127-1258-E9DF-EE5FBB9730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16CF94-B4A4-7FB2-3E23-B287C5F6E8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E97579-6D5E-5D38-4156-0A63CE337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ACD0C-F12A-4D68-B39F-1F8622420AB4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2769B0-AE88-EBAB-1331-035CAEC88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A6ADCF-9A84-5546-D595-ED3A7C110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2EFF4-8A3E-4365-B8C7-47932BCA0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7134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5AC58-4E75-B9B4-DD8B-4D25F6043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ED94A-A679-5F94-E4F6-8DD7AA8696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BA7952-64D6-6E1D-61AF-B7D79DB1E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ACD0C-F12A-4D68-B39F-1F8622420AB4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E82CD7-F904-E353-548C-CACAD9D14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533595-DC14-D85B-D84A-2DF824ED1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2EFF4-8A3E-4365-B8C7-47932BCA0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6028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4A476-CF38-1D79-ED27-C733048DF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38F996-4D87-8A99-8A9A-01379E37F5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256F3-D2F0-52E7-DC1B-0C486FFB9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ACD0C-F12A-4D68-B39F-1F8622420AB4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F87E55-4628-1157-274A-3EF145855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D53F6C-BA0B-A877-BF17-8B45E9BB0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2EFF4-8A3E-4365-B8C7-47932BCA0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0688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34AF7-7823-341A-3744-75DC63C3A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6FEFD-F9C3-3DAE-858E-00D887944D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3D1562-ABF0-CC28-D2C4-C633152C35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CEE5AA-EA07-6D83-B362-B76F665AD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ACD0C-F12A-4D68-B39F-1F8622420AB4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33023A-F339-B53D-7E4A-2444445AC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02E6C6-AB7F-4959-6D62-21B78754D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2EFF4-8A3E-4365-B8C7-47932BCA0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795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49E3A-6BB5-BA55-C8E7-1830CB583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C67B83-98A9-9B9C-5C0C-9733C5EC2C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8E86CD-DA3D-D391-8FAA-38FBA9CFF1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E1F7CF-FE7E-CE5D-EF9C-9E2D7FD39B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E48E8C-68D9-E64F-1BE4-B9C265D368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5CF674-9A3A-3044-645F-E8052F9B4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ACD0C-F12A-4D68-B39F-1F8622420AB4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EB99EB-4BF6-48AE-D4AC-8C09B6125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A6F228-AB23-AF97-9C06-8CCB6934D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2EFF4-8A3E-4365-B8C7-47932BCA0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9277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ADD9D-E95C-3CDA-6C7A-235427379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5E453C-3392-3A29-A015-13DB08E60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ACD0C-F12A-4D68-B39F-1F8622420AB4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DD47A0-CF43-F356-0270-F4DF47277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39356C-6631-9C3A-AE27-AD51D4C19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2EFF4-8A3E-4365-B8C7-47932BCA0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7706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1D4A0C-5A28-2B3C-8975-67D09ED14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ACD0C-F12A-4D68-B39F-1F8622420AB4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B47152-AF98-DFA8-628D-8204B135F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298FA1-05D6-E569-A37A-E51368C40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2EFF4-8A3E-4365-B8C7-47932BCA0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6627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2BF50-0C1D-BD91-DD07-B1F880FE6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5D7D4-BDCA-BC98-E234-3EE780F002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E494E5-BD7D-58BF-E1E3-217A848010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A7B03F-ADE7-373C-C062-83B1106B7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ACD0C-F12A-4D68-B39F-1F8622420AB4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C8AD0E-F03E-82E7-CB51-F87CA4222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0C2178-89AE-2D65-3C8A-C80DD8C2E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2EFF4-8A3E-4365-B8C7-47932BCA0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2743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7942F-D40E-0AA3-0409-4AD39B390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73E1BA-37F0-2DEA-B7FE-7FD565BFC6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7AE0E8-D94A-3534-C8B6-58AE529E7B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ADCC99-9E10-09F9-AD30-FF6E9144A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ACD0C-F12A-4D68-B39F-1F8622420AB4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AF6FBC-07D0-7226-C83D-F484DE16F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08E6EC-1C36-2D56-53B9-AAC08C98D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2EFF4-8A3E-4365-B8C7-47932BCA0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7144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5ED5E-E518-1462-9F03-02EB2A350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C73FA3-723E-3C3F-511B-0B95F1BDAF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81E419-E8D7-3672-2612-A7604BEE6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ACD0C-F12A-4D68-B39F-1F8622420AB4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68BAEA-896A-AD8A-285C-C9D9ACED9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38B0A7-2238-48EC-922E-1EB2F1212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2EFF4-8A3E-4365-B8C7-47932BCA0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1181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FD2BAD-FA66-E62B-2199-72CACB838B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904CA8-A123-79DB-FECA-162237D1B7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322216-AD79-4A9C-5C9A-1DDECCB8F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ACD0C-F12A-4D68-B39F-1F8622420AB4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400899-63C0-CE8F-6DB3-E5957E1EF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352E4F-8D10-2A48-F1B7-063AF1AE8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2EFF4-8A3E-4365-B8C7-47932BCA0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7203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B11D91-9AC8-31CA-8712-A7ECA0E4F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54E577-CF97-9AEF-4526-D8738FE562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4AAA1C-BFE5-D2C1-7E75-080D514095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6ACD0C-F12A-4D68-B39F-1F8622420AB4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78E625-6497-CFBC-C695-85968D6B8F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82110E-1343-465B-DA09-01A34C241B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2EFF4-8A3E-4365-B8C7-47932BCA0F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6527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sz="2800" b="1" dirty="0">
                <a:solidFill>
                  <a:srgbClr val="1A1A2E"/>
                </a:solidFill>
                <a:latin typeface="Cambria"/>
              </a:rPr>
              <a:t>AI-Based Deepfake Detection
and Verification System
Using Deep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552956"/>
          </a:xfrm>
        </p:spPr>
        <p:txBody>
          <a:bodyPr>
            <a:normAutofit/>
          </a:bodyPr>
          <a:lstStyle/>
          <a:p>
            <a:pPr algn="ctr"/>
            <a:r>
              <a:rPr sz="1400" dirty="0">
                <a:solidFill>
                  <a:srgbClr val="333333"/>
                </a:solidFill>
                <a:latin typeface="Times New Roman"/>
              </a:rPr>
              <a:t>Review-1: Problem Identification &amp; Title Justification
Team Members:
</a:t>
            </a:r>
            <a:r>
              <a:rPr lang="en-US" sz="1400" dirty="0">
                <a:solidFill>
                  <a:srgbClr val="333333"/>
                </a:solidFill>
                <a:latin typeface="Times New Roman"/>
              </a:rPr>
              <a:t>BHARATH PRIYAN M</a:t>
            </a:r>
            <a:r>
              <a:rPr sz="1400" dirty="0">
                <a:solidFill>
                  <a:srgbClr val="333333"/>
                </a:solidFill>
                <a:latin typeface="Times New Roman"/>
              </a:rPr>
              <a:t>— </a:t>
            </a:r>
            <a:r>
              <a:rPr lang="en-US" sz="1400" dirty="0">
                <a:solidFill>
                  <a:srgbClr val="333333"/>
                </a:solidFill>
                <a:latin typeface="Times New Roman"/>
              </a:rPr>
              <a:t>210425243039</a:t>
            </a:r>
            <a:r>
              <a:rPr sz="1400" dirty="0">
                <a:solidFill>
                  <a:srgbClr val="333333"/>
                </a:solidFill>
                <a:latin typeface="Times New Roman"/>
              </a:rPr>
              <a:t>
</a:t>
            </a:r>
            <a:r>
              <a:rPr lang="en-US" sz="1400" dirty="0">
                <a:solidFill>
                  <a:srgbClr val="333333"/>
                </a:solidFill>
                <a:latin typeface="Times New Roman"/>
              </a:rPr>
              <a:t>JAGADISH P</a:t>
            </a:r>
            <a:r>
              <a:rPr sz="1400" dirty="0">
                <a:solidFill>
                  <a:srgbClr val="333333"/>
                </a:solidFill>
                <a:latin typeface="Times New Roman"/>
              </a:rPr>
              <a:t> — </a:t>
            </a:r>
            <a:r>
              <a:rPr lang="en-US" sz="1400" dirty="0">
                <a:solidFill>
                  <a:srgbClr val="333333"/>
                </a:solidFill>
                <a:latin typeface="Times New Roman"/>
              </a:rPr>
              <a:t>210425243090</a:t>
            </a:r>
            <a:r>
              <a:rPr sz="1400" dirty="0">
                <a:solidFill>
                  <a:srgbClr val="333333"/>
                </a:solidFill>
                <a:latin typeface="Times New Roman"/>
              </a:rPr>
              <a:t>
</a:t>
            </a:r>
            <a:r>
              <a:rPr lang="en-US" sz="1400" dirty="0">
                <a:solidFill>
                  <a:srgbClr val="333333"/>
                </a:solidFill>
                <a:latin typeface="Times New Roman"/>
              </a:rPr>
              <a:t>Dept:</a:t>
            </a:r>
            <a:r>
              <a:rPr sz="1400" dirty="0">
                <a:solidFill>
                  <a:srgbClr val="333333"/>
                </a:solidFill>
                <a:latin typeface="Times New Roman"/>
              </a:rPr>
              <a:t> </a:t>
            </a:r>
            <a:r>
              <a:rPr lang="en-US" sz="1400" dirty="0">
                <a:solidFill>
                  <a:srgbClr val="333333"/>
                </a:solidFill>
                <a:latin typeface="Times New Roman"/>
              </a:rPr>
              <a:t>AIDS</a:t>
            </a:r>
            <a:r>
              <a:rPr sz="1400" dirty="0">
                <a:solidFill>
                  <a:srgbClr val="333333"/>
                </a:solidFill>
                <a:latin typeface="Times New Roman"/>
              </a:rPr>
              <a:t> | Batch [</a:t>
            </a:r>
            <a:r>
              <a:rPr lang="en-US" sz="1400" dirty="0">
                <a:solidFill>
                  <a:srgbClr val="333333"/>
                </a:solidFill>
                <a:latin typeface="Times New Roman"/>
              </a:rPr>
              <a:t>2025-2029</a:t>
            </a:r>
            <a:r>
              <a:rPr sz="1400" dirty="0">
                <a:solidFill>
                  <a:srgbClr val="333333"/>
                </a:solidFill>
                <a:latin typeface="Times New Roman"/>
              </a:rPr>
              <a:t>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A1A2E"/>
                </a:solidFill>
                <a:latin typeface="Cambria"/>
              </a:rPr>
              <a:t>Relevance of 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1894574" cy="6538912"/>
          </a:xfrm>
        </p:spPr>
        <p:txBody>
          <a:bodyPr>
            <a:normAutofit/>
          </a:bodyPr>
          <a:lstStyle/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2000" dirty="0">
                <a:solidFill>
                  <a:srgbClr val="333333"/>
                </a:solidFill>
                <a:latin typeface="Times New Roman"/>
              </a:rPr>
              <a:t>The rapid growth of AI has enabled creation of highly realistic fake images and videos (deepfakes)</a:t>
            </a:r>
          </a:p>
          <a:p>
            <a:pPr lvl="1">
              <a:spcAft>
                <a:spcPts val="300"/>
              </a:spcAft>
            </a:pPr>
            <a:r>
              <a:rPr sz="2000" dirty="0">
                <a:solidFill>
                  <a:srgbClr val="555555"/>
                </a:solidFill>
                <a:latin typeface="Times New Roman"/>
              </a:rPr>
              <a:t>Industries affected: Banking, Social Media, Journalism, Law Enforcement, Politics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2000" dirty="0">
                <a:solidFill>
                  <a:srgbClr val="333333"/>
                </a:solidFill>
                <a:latin typeface="Times New Roman"/>
              </a:rPr>
              <a:t>Deepfakes are used for fake news, identity theft, financial fraud, and political manipulation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2000" dirty="0">
                <a:solidFill>
                  <a:srgbClr val="333333"/>
                </a:solidFill>
                <a:latin typeface="Times New Roman"/>
              </a:rPr>
              <a:t>Social media misinformation — manipulated content spreads faster than authentic content</a:t>
            </a:r>
          </a:p>
          <a:p>
            <a:pPr lvl="1">
              <a:spcAft>
                <a:spcPts val="300"/>
              </a:spcAft>
            </a:pPr>
            <a:r>
              <a:rPr sz="2000" dirty="0">
                <a:solidFill>
                  <a:srgbClr val="555555"/>
                </a:solidFill>
                <a:latin typeface="Times New Roman"/>
              </a:rPr>
              <a:t>Cost of deepfake fraud exceeded $25 billion globally in 2023 (FTC Report)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2000" dirty="0">
                <a:solidFill>
                  <a:srgbClr val="333333"/>
                </a:solidFill>
                <a:latin typeface="Times New Roman"/>
              </a:rPr>
              <a:t>Traditional manual verification methods are unreliable and time-consuming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2000" dirty="0">
                <a:solidFill>
                  <a:srgbClr val="333333"/>
                </a:solidFill>
                <a:latin typeface="Times New Roman"/>
              </a:rPr>
              <a:t>As deepfakes become increasingly difficult to identify with the human eye, automated detection is critical</a:t>
            </a:r>
          </a:p>
          <a:p>
            <a:pPr lvl="1">
              <a:spcAft>
                <a:spcPts val="300"/>
              </a:spcAft>
            </a:pPr>
            <a:r>
              <a:rPr sz="2000" dirty="0">
                <a:solidFill>
                  <a:srgbClr val="555555"/>
                </a:solidFill>
                <a:latin typeface="Times New Roman"/>
              </a:rPr>
              <a:t>Humans can only detect ~50% of deepfakes in controlled studies (Nature, 2022)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2000" dirty="0">
                <a:solidFill>
                  <a:srgbClr val="333333"/>
                </a:solidFill>
                <a:latin typeface="Times New Roman"/>
              </a:rPr>
              <a:t>Growing need for accurate systems to distinguish genuine vs. manipulated digital media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A1A2E"/>
                </a:solidFill>
                <a:latin typeface="Cambria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2000" dirty="0">
                <a:solidFill>
                  <a:srgbClr val="333333"/>
                </a:solidFill>
                <a:latin typeface="Times New Roman"/>
              </a:rPr>
              <a:t>Deepfake technology has advanced significantly — fake videos and images appear highly realistic</a:t>
            </a:r>
          </a:p>
          <a:p>
            <a:pPr lvl="1">
              <a:spcAft>
                <a:spcPts val="300"/>
              </a:spcAft>
            </a:pPr>
            <a:r>
              <a:rPr sz="2000" dirty="0">
                <a:solidFill>
                  <a:srgbClr val="555555"/>
                </a:solidFill>
                <a:latin typeface="Times New Roman"/>
              </a:rPr>
              <a:t>GANs, Autoencoders, and Diffusion Models enable high-quality face synthesis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2000" dirty="0">
                <a:solidFill>
                  <a:srgbClr val="333333"/>
                </a:solidFill>
                <a:latin typeface="Times New Roman"/>
              </a:rPr>
              <a:t>Manual verification is unreliable, slow, and cannot scale with the volume of online content</a:t>
            </a:r>
          </a:p>
          <a:p>
            <a:pPr lvl="1">
              <a:spcAft>
                <a:spcPts val="300"/>
              </a:spcAft>
            </a:pPr>
            <a:r>
              <a:rPr sz="2000" dirty="0">
                <a:solidFill>
                  <a:srgbClr val="555555"/>
                </a:solidFill>
                <a:latin typeface="Times New Roman"/>
              </a:rPr>
              <a:t>Social media platforms process billions of images/videos daily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2000" dirty="0">
                <a:solidFill>
                  <a:srgbClr val="333333"/>
                </a:solidFill>
                <a:latin typeface="Times New Roman"/>
              </a:rPr>
              <a:t>No universally deployed lightweight system exists for real-time deepfake detection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2000" dirty="0">
                <a:solidFill>
                  <a:srgbClr val="333333"/>
                </a:solidFill>
                <a:latin typeface="Times New Roman"/>
              </a:rPr>
              <a:t>Existing detection models require significant computational </a:t>
            </a:r>
            <a:r>
              <a:rPr sz="2000" dirty="0" err="1">
                <a:solidFill>
                  <a:srgbClr val="333333"/>
                </a:solidFill>
                <a:latin typeface="Times New Roman"/>
              </a:rPr>
              <a:t>resourc</a:t>
            </a:r>
            <a:r>
              <a:rPr lang="en-IN" sz="2000" dirty="0">
                <a:solidFill>
                  <a:srgbClr val="333333"/>
                </a:solidFill>
                <a:latin typeface="Times New Roman"/>
              </a:rPr>
              <a:t>es</a:t>
            </a:r>
            <a:endParaRPr sz="2000" dirty="0">
              <a:solidFill>
                <a:srgbClr val="333333"/>
              </a:solidFill>
              <a:latin typeface="Times New Roman"/>
            </a:endParaRPr>
          </a:p>
          <a:p>
            <a:pPr lvl="1">
              <a:spcAft>
                <a:spcPts val="300"/>
              </a:spcAft>
            </a:pPr>
            <a:r>
              <a:rPr sz="2000" dirty="0">
                <a:solidFill>
                  <a:srgbClr val="555555"/>
                </a:solidFill>
                <a:latin typeface="Times New Roman"/>
              </a:rPr>
              <a:t>Most state-of-the-art models run on GPUs — not suitable for edge/mobile deployment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2000" dirty="0">
                <a:solidFill>
                  <a:srgbClr val="333333"/>
                </a:solidFill>
                <a:latin typeface="Times New Roman"/>
              </a:rPr>
              <a:t>Therefore, an intelligent system is required to automatically analyze digital media and identify whether it is authentic or manipulated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A1A2E"/>
                </a:solidFill>
                <a:latin typeface="Cambria"/>
              </a:rPr>
              <a:t>Justification of Project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2000" dirty="0">
                <a:solidFill>
                  <a:srgbClr val="333333"/>
                </a:solidFill>
                <a:latin typeface="Times New Roman"/>
              </a:rPr>
              <a:t>"AI-Based" — Uses Artificial Intelligence and Deep Learning algorithms</a:t>
            </a:r>
          </a:p>
          <a:p>
            <a:pPr lvl="1">
              <a:spcAft>
                <a:spcPts val="300"/>
              </a:spcAft>
            </a:pPr>
            <a:r>
              <a:rPr sz="2000" dirty="0">
                <a:solidFill>
                  <a:srgbClr val="555555"/>
                </a:solidFill>
                <a:latin typeface="Times New Roman"/>
              </a:rPr>
              <a:t>CNNs, Transfer Learning (VGG, </a:t>
            </a:r>
            <a:r>
              <a:rPr sz="2000" dirty="0" err="1">
                <a:solidFill>
                  <a:srgbClr val="555555"/>
                </a:solidFill>
                <a:latin typeface="Times New Roman"/>
              </a:rPr>
              <a:t>ResNet</a:t>
            </a:r>
            <a:r>
              <a:rPr sz="2000" dirty="0">
                <a:solidFill>
                  <a:srgbClr val="555555"/>
                </a:solidFill>
                <a:latin typeface="Times New Roman"/>
              </a:rPr>
              <a:t>, </a:t>
            </a:r>
            <a:r>
              <a:rPr sz="2000" dirty="0" err="1">
                <a:solidFill>
                  <a:srgbClr val="555555"/>
                </a:solidFill>
                <a:latin typeface="Times New Roman"/>
              </a:rPr>
              <a:t>EfficientNet</a:t>
            </a:r>
            <a:r>
              <a:rPr sz="2000" dirty="0">
                <a:solidFill>
                  <a:srgbClr val="555555"/>
                </a:solidFill>
                <a:latin typeface="Times New Roman"/>
              </a:rPr>
              <a:t>), and ensemble methods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2000" dirty="0">
                <a:solidFill>
                  <a:srgbClr val="333333"/>
                </a:solidFill>
                <a:latin typeface="Times New Roman"/>
              </a:rPr>
              <a:t>"Deepfake Detection" — Identifies manipulated facial images and videos</a:t>
            </a:r>
          </a:p>
          <a:p>
            <a:pPr lvl="1">
              <a:spcAft>
                <a:spcPts val="300"/>
              </a:spcAft>
            </a:pPr>
            <a:r>
              <a:rPr sz="2000" dirty="0">
                <a:solidFill>
                  <a:srgbClr val="555555"/>
                </a:solidFill>
                <a:latin typeface="Times New Roman"/>
              </a:rPr>
              <a:t>Analyzes facial inconsistencies: lighting, texture, blending artifacts, blinking patterns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2000" dirty="0">
                <a:solidFill>
                  <a:srgbClr val="333333"/>
                </a:solidFill>
                <a:latin typeface="Times New Roman"/>
              </a:rPr>
              <a:t>"Verification System" — Provides binary verification (Real / Fake) with confidence scores</a:t>
            </a:r>
          </a:p>
          <a:p>
            <a:pPr lvl="1">
              <a:spcAft>
                <a:spcPts val="300"/>
              </a:spcAft>
            </a:pPr>
            <a:r>
              <a:rPr sz="2000" dirty="0">
                <a:solidFill>
                  <a:srgbClr val="555555"/>
                </a:solidFill>
                <a:latin typeface="Times New Roman"/>
              </a:rPr>
              <a:t>Confidence score indicates probability of manipulation (0% to 100%)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2000" dirty="0">
                <a:solidFill>
                  <a:srgbClr val="333333"/>
                </a:solidFill>
                <a:latin typeface="Times New Roman"/>
              </a:rPr>
              <a:t>"Using Deep Learning" — Employs CNNs, Transfer Learning, and advanced neural architectures</a:t>
            </a:r>
          </a:p>
          <a:p>
            <a:pPr lvl="1">
              <a:spcAft>
                <a:spcPts val="300"/>
              </a:spcAft>
            </a:pPr>
            <a:r>
              <a:rPr sz="2000" dirty="0">
                <a:solidFill>
                  <a:srgbClr val="555555"/>
                </a:solidFill>
                <a:latin typeface="Times New Roman"/>
              </a:rPr>
              <a:t>Pre-trained models fine-tuned on deepfake datasets for high accuracy with less training data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2000" dirty="0">
                <a:solidFill>
                  <a:srgbClr val="333333"/>
                </a:solidFill>
                <a:latin typeface="Times New Roman"/>
              </a:rPr>
              <a:t>The system contributes to cybersecurity and digital media authenticity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A1A2E"/>
                </a:solidFill>
                <a:latin typeface="Cambria"/>
              </a:rPr>
              <a:t>Objectives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2000" dirty="0">
                <a:solidFill>
                  <a:srgbClr val="333333"/>
                </a:solidFill>
                <a:latin typeface="Times New Roman"/>
              </a:rPr>
              <a:t>Main: Develop an intelligent deep learning-based system for accurate deepfake detection</a:t>
            </a:r>
          </a:p>
          <a:p>
            <a:pPr lvl="1">
              <a:spcAft>
                <a:spcPts val="300"/>
              </a:spcAft>
            </a:pPr>
            <a:r>
              <a:rPr sz="2000" dirty="0">
                <a:solidFill>
                  <a:srgbClr val="555555"/>
                </a:solidFill>
                <a:latin typeface="Times New Roman"/>
              </a:rPr>
              <a:t>Target: AUC &gt; 0.98 and Accuracy &gt; 95% on benchmark datasets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2000" dirty="0">
                <a:solidFill>
                  <a:srgbClr val="333333"/>
                </a:solidFill>
                <a:latin typeface="Times New Roman"/>
              </a:rPr>
              <a:t>Detect manipulated images and videos using facial feature analysis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2000" dirty="0">
                <a:solidFill>
                  <a:srgbClr val="333333"/>
                </a:solidFill>
                <a:latin typeface="Times New Roman"/>
              </a:rPr>
              <a:t>Analyze facial inconsistencies (lighting, texture, blending, blinking patterns)</a:t>
            </a:r>
          </a:p>
          <a:p>
            <a:pPr lvl="1">
              <a:spcAft>
                <a:spcPts val="300"/>
              </a:spcAft>
            </a:pPr>
            <a:r>
              <a:rPr sz="2000" dirty="0">
                <a:solidFill>
                  <a:srgbClr val="555555"/>
                </a:solidFill>
                <a:latin typeface="Times New Roman"/>
              </a:rPr>
              <a:t>Face extraction using MTCNN / </a:t>
            </a:r>
            <a:r>
              <a:rPr sz="2000" dirty="0" err="1">
                <a:solidFill>
                  <a:srgbClr val="555555"/>
                </a:solidFill>
                <a:latin typeface="Times New Roman"/>
              </a:rPr>
              <a:t>dlib</a:t>
            </a:r>
            <a:r>
              <a:rPr sz="2000" dirty="0">
                <a:solidFill>
                  <a:srgbClr val="555555"/>
                </a:solidFill>
                <a:latin typeface="Times New Roman"/>
              </a:rPr>
              <a:t> before classification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2000" dirty="0">
                <a:solidFill>
                  <a:srgbClr val="333333"/>
                </a:solidFill>
                <a:latin typeface="Times New Roman"/>
              </a:rPr>
              <a:t>Achieve high detection accuracy with optimized model architecture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2000" dirty="0">
                <a:solidFill>
                  <a:srgbClr val="333333"/>
                </a:solidFill>
                <a:latin typeface="Times New Roman"/>
              </a:rPr>
              <a:t>Provide real-time verification capability for practical deployment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2000" dirty="0">
                <a:solidFill>
                  <a:srgbClr val="333333"/>
                </a:solidFill>
                <a:latin typeface="Times New Roman"/>
              </a:rPr>
              <a:t>Develop a user-friendly web interface for easy upload and verification</a:t>
            </a:r>
          </a:p>
          <a:p>
            <a:pPr lvl="1">
              <a:spcAft>
                <a:spcPts val="300"/>
              </a:spcAft>
            </a:pPr>
            <a:r>
              <a:rPr sz="2000" dirty="0">
                <a:solidFill>
                  <a:srgbClr val="555555"/>
                </a:solidFill>
                <a:latin typeface="Times New Roman"/>
              </a:rPr>
              <a:t>Upload image/video → Instant prediction with confidence score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2000" dirty="0">
                <a:solidFill>
                  <a:srgbClr val="333333"/>
                </a:solidFill>
                <a:latin typeface="Times New Roman"/>
              </a:rPr>
              <a:t>Compare different deep learning models and select the best performer</a:t>
            </a:r>
          </a:p>
          <a:p>
            <a:pPr lvl="1">
              <a:spcAft>
                <a:spcPts val="300"/>
              </a:spcAft>
            </a:pPr>
            <a:r>
              <a:rPr sz="2000" dirty="0">
                <a:solidFill>
                  <a:srgbClr val="555555"/>
                </a:solidFill>
                <a:latin typeface="Times New Roman"/>
              </a:rPr>
              <a:t>CNN, VGG16, ResNet50, </a:t>
            </a:r>
            <a:r>
              <a:rPr sz="2000" dirty="0" err="1">
                <a:solidFill>
                  <a:srgbClr val="555555"/>
                </a:solidFill>
                <a:latin typeface="Times New Roman"/>
              </a:rPr>
              <a:t>EfficientNet</a:t>
            </a:r>
            <a:r>
              <a:rPr sz="2000" dirty="0">
                <a:solidFill>
                  <a:srgbClr val="555555"/>
                </a:solidFill>
                <a:latin typeface="Times New Roman"/>
              </a:rPr>
              <a:t>, and custom architectures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A1A2E"/>
                </a:solidFill>
                <a:latin typeface="Cambria"/>
              </a:rPr>
              <a:t>Scope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19200"/>
            <a:ext cx="10515600" cy="4957763"/>
          </a:xfrm>
        </p:spPr>
        <p:txBody>
          <a:bodyPr>
            <a:noAutofit/>
          </a:bodyPr>
          <a:lstStyle/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600" dirty="0">
                <a:solidFill>
                  <a:srgbClr val="333333"/>
                </a:solidFill>
                <a:latin typeface="Times New Roman"/>
              </a:rPr>
              <a:t>Included in Scope: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600" dirty="0">
                <a:solidFill>
                  <a:srgbClr val="333333"/>
                </a:solidFill>
                <a:latin typeface="Times New Roman"/>
              </a:rPr>
              <a:t>Deepfake image detection (face-level manipulation)</a:t>
            </a:r>
          </a:p>
          <a:p>
            <a:pPr lvl="1">
              <a:spcAft>
                <a:spcPts val="300"/>
              </a:spcAft>
            </a:pPr>
            <a:r>
              <a:rPr sz="1600" dirty="0">
                <a:solidFill>
                  <a:srgbClr val="555555"/>
                </a:solidFill>
                <a:latin typeface="Times New Roman"/>
              </a:rPr>
              <a:t>Supports JPEG, PNG, and BMP image formats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600" dirty="0">
                <a:solidFill>
                  <a:srgbClr val="333333"/>
                </a:solidFill>
                <a:latin typeface="Times New Roman"/>
              </a:rPr>
              <a:t>Deepfake video detection (frame-by-frame + temporal analysis)</a:t>
            </a:r>
          </a:p>
          <a:p>
            <a:pPr lvl="1">
              <a:spcAft>
                <a:spcPts val="300"/>
              </a:spcAft>
            </a:pPr>
            <a:r>
              <a:rPr sz="1600" dirty="0">
                <a:solidFill>
                  <a:srgbClr val="555555"/>
                </a:solidFill>
                <a:latin typeface="Times New Roman"/>
              </a:rPr>
              <a:t>Extracts keyframes for efficient video analysis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600" dirty="0">
                <a:solidFill>
                  <a:srgbClr val="333333"/>
                </a:solidFill>
                <a:latin typeface="Times New Roman"/>
              </a:rPr>
              <a:t>Face extraction and preprocessing pipeline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600" dirty="0">
                <a:solidFill>
                  <a:srgbClr val="333333"/>
                </a:solidFill>
                <a:latin typeface="Times New Roman"/>
              </a:rPr>
              <a:t>Real-time prediction with confidence score generation</a:t>
            </a:r>
          </a:p>
          <a:p>
            <a:pPr lvl="1">
              <a:spcAft>
                <a:spcPts val="300"/>
              </a:spcAft>
            </a:pPr>
            <a:r>
              <a:rPr sz="1600" dirty="0">
                <a:solidFill>
                  <a:srgbClr val="555555"/>
                </a:solidFill>
                <a:latin typeface="Times New Roman"/>
              </a:rPr>
              <a:t>5-fold cross-validation, ROC-AUC curves, precision-recall analysis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600" dirty="0">
                <a:solidFill>
                  <a:srgbClr val="333333"/>
                </a:solidFill>
                <a:latin typeface="Times New Roman"/>
              </a:rPr>
              <a:t>Performance evaluation (Accuracy, AUC, F1-Score, Confusion Matrix)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600" dirty="0">
                <a:solidFill>
                  <a:srgbClr val="333333"/>
                </a:solidFill>
                <a:latin typeface="Times New Roman"/>
              </a:rPr>
              <a:t>Future Scope: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600" dirty="0">
                <a:solidFill>
                  <a:srgbClr val="333333"/>
                </a:solidFill>
                <a:latin typeface="Times New Roman"/>
              </a:rPr>
              <a:t>Voice / audio deepfake detection (speech synthesis)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600" dirty="0">
                <a:solidFill>
                  <a:srgbClr val="333333"/>
                </a:solidFill>
                <a:latin typeface="Times New Roman"/>
              </a:rPr>
              <a:t>Social media API integration for live content scanning</a:t>
            </a:r>
          </a:p>
          <a:p>
            <a:pPr lvl="1">
              <a:spcAft>
                <a:spcPts val="300"/>
              </a:spcAft>
            </a:pPr>
            <a:r>
              <a:rPr sz="1600" dirty="0">
                <a:solidFill>
                  <a:srgbClr val="555555"/>
                </a:solidFill>
                <a:latin typeface="Times New Roman"/>
              </a:rPr>
              <a:t>Lightweight </a:t>
            </a:r>
            <a:r>
              <a:rPr sz="1600" dirty="0" err="1">
                <a:solidFill>
                  <a:srgbClr val="555555"/>
                </a:solidFill>
                <a:latin typeface="Times New Roman"/>
              </a:rPr>
              <a:t>TFLite</a:t>
            </a:r>
            <a:r>
              <a:rPr sz="1600" dirty="0">
                <a:solidFill>
                  <a:srgbClr val="555555"/>
                </a:solidFill>
                <a:latin typeface="Times New Roman"/>
              </a:rPr>
              <a:t> / ONNX models for on-device inference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600" dirty="0">
                <a:solidFill>
                  <a:srgbClr val="333333"/>
                </a:solidFill>
                <a:latin typeface="Times New Roman"/>
              </a:rPr>
              <a:t>Browser extension for real-time image verification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600" dirty="0">
                <a:solidFill>
                  <a:srgbClr val="333333"/>
                </a:solidFill>
                <a:latin typeface="Times New Roman"/>
              </a:rPr>
              <a:t>Mobile application deployment (Android / iOS)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600" dirty="0">
                <a:solidFill>
                  <a:srgbClr val="333333"/>
                </a:solidFill>
                <a:latin typeface="Times New Roman"/>
              </a:rPr>
              <a:t>Multimodal detection combining video + audio + text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A1A2E"/>
                </a:solidFill>
                <a:latin typeface="Cambria"/>
              </a:rPr>
              <a:t>Basic Concepts Related to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2000" dirty="0">
                <a:solidFill>
                  <a:srgbClr val="333333"/>
                </a:solidFill>
                <a:latin typeface="Times New Roman"/>
              </a:rPr>
              <a:t>Artificial Intelligence (AI) — Simulation of human intelligence using machines</a:t>
            </a:r>
          </a:p>
          <a:p>
            <a:pPr lvl="1">
              <a:spcAft>
                <a:spcPts val="300"/>
              </a:spcAft>
            </a:pPr>
            <a:r>
              <a:rPr sz="2000" dirty="0">
                <a:solidFill>
                  <a:srgbClr val="555555"/>
                </a:solidFill>
                <a:latin typeface="Times New Roman"/>
              </a:rPr>
              <a:t>Rule-based systems → Statistical ML → Deep Learning → Generative AI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2000" dirty="0">
                <a:solidFill>
                  <a:srgbClr val="333333"/>
                </a:solidFill>
                <a:latin typeface="Times New Roman"/>
              </a:rPr>
              <a:t>Machine Learning (ML) — Algorithms that learn patterns from data without explicit programming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2000" dirty="0">
                <a:solidFill>
                  <a:srgbClr val="333333"/>
                </a:solidFill>
                <a:latin typeface="Times New Roman"/>
              </a:rPr>
              <a:t>Deep Learning (DL) — Advanced ML using multi-layered neural networks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2000" dirty="0">
                <a:solidFill>
                  <a:srgbClr val="333333"/>
                </a:solidFill>
                <a:latin typeface="Times New Roman"/>
              </a:rPr>
              <a:t>Computer Vision — AI field enabling computers to understand images and videos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2000" dirty="0">
                <a:solidFill>
                  <a:srgbClr val="333333"/>
                </a:solidFill>
                <a:latin typeface="Times New Roman"/>
              </a:rPr>
              <a:t>Convolutional Neural Network (CNN) — Deep learning architecture for image classification</a:t>
            </a:r>
          </a:p>
          <a:p>
            <a:pPr lvl="1">
              <a:spcAft>
                <a:spcPts val="300"/>
              </a:spcAft>
            </a:pPr>
            <a:r>
              <a:rPr sz="2000" dirty="0">
                <a:solidFill>
                  <a:srgbClr val="555555"/>
                </a:solidFill>
                <a:latin typeface="Times New Roman"/>
              </a:rPr>
              <a:t>Convolution layers extract spatial features; pooling reduces dimensionality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2000" dirty="0">
                <a:solidFill>
                  <a:srgbClr val="333333"/>
                </a:solidFill>
                <a:latin typeface="Times New Roman"/>
              </a:rPr>
              <a:t>Deepfake — AI-generated fake media that appears authentic to humans</a:t>
            </a:r>
          </a:p>
          <a:p>
            <a:pPr lvl="1">
              <a:spcAft>
                <a:spcPts val="300"/>
              </a:spcAft>
            </a:pPr>
            <a:r>
              <a:rPr sz="2000" dirty="0">
                <a:solidFill>
                  <a:srgbClr val="555555"/>
                </a:solidFill>
                <a:latin typeface="Times New Roman"/>
              </a:rPr>
              <a:t>Generative Adversarial Networks (GANs) and Autoencoders are primary generation methods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2000" dirty="0">
                <a:solidFill>
                  <a:srgbClr val="333333"/>
                </a:solidFill>
                <a:latin typeface="Times New Roman"/>
              </a:rPr>
              <a:t>Transfer Learning — Using pre-trained models to improve performance and reduce training time</a:t>
            </a:r>
          </a:p>
          <a:p>
            <a:pPr lvl="1">
              <a:spcAft>
                <a:spcPts val="300"/>
              </a:spcAft>
            </a:pPr>
            <a:r>
              <a:rPr sz="2000" dirty="0">
                <a:solidFill>
                  <a:srgbClr val="555555"/>
                </a:solidFill>
                <a:latin typeface="Times New Roman"/>
              </a:rPr>
              <a:t>Models like VGG16, ResNet50, </a:t>
            </a:r>
            <a:r>
              <a:rPr sz="2000" dirty="0" err="1">
                <a:solidFill>
                  <a:srgbClr val="555555"/>
                </a:solidFill>
                <a:latin typeface="Times New Roman"/>
              </a:rPr>
              <a:t>EfficientNet</a:t>
            </a:r>
            <a:r>
              <a:rPr sz="2000" dirty="0">
                <a:solidFill>
                  <a:srgbClr val="555555"/>
                </a:solidFill>
                <a:latin typeface="Times New Roman"/>
              </a:rPr>
              <a:t> pre-trained on ImageNet, fine-tuned for deepfakes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A1A2E"/>
                </a:solidFill>
                <a:latin typeface="Cambria"/>
              </a:rPr>
              <a:t>Literature Survey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2000" dirty="0">
                <a:solidFill>
                  <a:srgbClr val="333333"/>
                </a:solidFill>
                <a:latin typeface="Times New Roman"/>
              </a:rPr>
              <a:t>[1] "</a:t>
            </a:r>
            <a:r>
              <a:rPr sz="2000" dirty="0" err="1">
                <a:solidFill>
                  <a:srgbClr val="333333"/>
                </a:solidFill>
                <a:latin typeface="Times New Roman"/>
              </a:rPr>
              <a:t>FaceForensics</a:t>
            </a:r>
            <a:r>
              <a:rPr sz="2000" dirty="0">
                <a:solidFill>
                  <a:srgbClr val="333333"/>
                </a:solidFill>
                <a:latin typeface="Times New Roman"/>
              </a:rPr>
              <a:t>++" (Rössler et al., 2019) — Introduced benchmark dataset for deepfake detection</a:t>
            </a:r>
          </a:p>
          <a:p>
            <a:pPr lvl="1">
              <a:spcAft>
                <a:spcPts val="300"/>
              </a:spcAft>
            </a:pPr>
            <a:r>
              <a:rPr sz="2000" dirty="0">
                <a:solidFill>
                  <a:srgbClr val="555555"/>
                </a:solidFill>
                <a:latin typeface="Times New Roman"/>
              </a:rPr>
              <a:t>Contribution: Standard benchmark | Limitation: Performance drops on compressed videos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2000" dirty="0">
                <a:solidFill>
                  <a:srgbClr val="333333"/>
                </a:solidFill>
                <a:latin typeface="Times New Roman"/>
              </a:rPr>
              <a:t>[2] "Celeb-DF" (Li et al., 2020) — Large-scale challenging dataset with improved deepfake quality</a:t>
            </a:r>
          </a:p>
          <a:p>
            <a:pPr lvl="1">
              <a:spcAft>
                <a:spcPts val="300"/>
              </a:spcAft>
            </a:pPr>
            <a:r>
              <a:rPr sz="2000" dirty="0">
                <a:solidFill>
                  <a:srgbClr val="555555"/>
                </a:solidFill>
                <a:latin typeface="Times New Roman"/>
              </a:rPr>
              <a:t>Contribution: High-quality synthesis | Limitation: Struggles with highly realistic deepfakes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2000" dirty="0">
                <a:solidFill>
                  <a:srgbClr val="333333"/>
                </a:solidFill>
                <a:latin typeface="Times New Roman"/>
              </a:rPr>
              <a:t>[3] "</a:t>
            </a:r>
            <a:r>
              <a:rPr sz="2000" dirty="0" err="1">
                <a:solidFill>
                  <a:srgbClr val="333333"/>
                </a:solidFill>
                <a:latin typeface="Times New Roman"/>
              </a:rPr>
              <a:t>DeepFake</a:t>
            </a:r>
            <a:r>
              <a:rPr sz="2000" dirty="0">
                <a:solidFill>
                  <a:srgbClr val="333333"/>
                </a:solidFill>
                <a:latin typeface="Times New Roman"/>
              </a:rPr>
              <a:t> Detection Using CNN-Based Models" — Achieved good classification accuracy</a:t>
            </a:r>
          </a:p>
          <a:p>
            <a:pPr lvl="1">
              <a:spcAft>
                <a:spcPts val="300"/>
              </a:spcAft>
            </a:pPr>
            <a:r>
              <a:rPr sz="2000" dirty="0">
                <a:solidFill>
                  <a:srgbClr val="555555"/>
                </a:solidFill>
                <a:latin typeface="Times New Roman"/>
              </a:rPr>
              <a:t>Contribution: Good accuracy | Limitation: High computational complexity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2000" dirty="0">
                <a:solidFill>
                  <a:srgbClr val="333333"/>
                </a:solidFill>
                <a:latin typeface="Times New Roman"/>
              </a:rPr>
              <a:t>[4] "Vision Transformer for Deepfake Detection" — Captures global image features effectively</a:t>
            </a:r>
          </a:p>
          <a:p>
            <a:pPr lvl="1">
              <a:spcAft>
                <a:spcPts val="300"/>
              </a:spcAft>
            </a:pPr>
            <a:r>
              <a:rPr sz="2000" dirty="0">
                <a:solidFill>
                  <a:srgbClr val="555555"/>
                </a:solidFill>
                <a:latin typeface="Times New Roman"/>
              </a:rPr>
              <a:t>Contribution: Global features | Limitation: Requires large computational resources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2000" dirty="0">
                <a:solidFill>
                  <a:srgbClr val="333333"/>
                </a:solidFill>
                <a:latin typeface="Times New Roman"/>
              </a:rPr>
              <a:t>[5] "Hybrid CNN and Transformer Models" — Combines local and global feature extraction</a:t>
            </a:r>
          </a:p>
          <a:p>
            <a:pPr lvl="1">
              <a:spcAft>
                <a:spcPts val="300"/>
              </a:spcAft>
            </a:pPr>
            <a:r>
              <a:rPr sz="2000" dirty="0">
                <a:solidFill>
                  <a:srgbClr val="555555"/>
                </a:solidFill>
                <a:latin typeface="Times New Roman"/>
              </a:rPr>
              <a:t>Contribution: Best of both | Limitation: Increased model complexity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A1A2E"/>
                </a:solidFill>
                <a:latin typeface="Cambria"/>
              </a:rPr>
              <a:t>Research Gap &amp; 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2000" dirty="0">
                <a:solidFill>
                  <a:srgbClr val="333333"/>
                </a:solidFill>
                <a:latin typeface="Times New Roman"/>
              </a:rPr>
              <a:t>High computational cost → Lightweight CNN architecture (fewer parameters)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2000" dirty="0">
                <a:solidFill>
                  <a:srgbClr val="333333"/>
                </a:solidFill>
                <a:latin typeface="Times New Roman"/>
              </a:rPr>
              <a:t>Slow detection speed → Real-time inference pipeline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2000" dirty="0">
                <a:solidFill>
                  <a:srgbClr val="333333"/>
                </a:solidFill>
                <a:latin typeface="Times New Roman"/>
              </a:rPr>
              <a:t>Large model size → Optimized model via pruning &amp; quantization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2000" dirty="0">
                <a:solidFill>
                  <a:srgbClr val="333333"/>
                </a:solidFill>
                <a:latin typeface="Times New Roman"/>
              </a:rPr>
              <a:t>Limited deployment → Web-based Flask/</a:t>
            </a:r>
            <a:r>
              <a:rPr sz="2000" dirty="0" err="1">
                <a:solidFill>
                  <a:srgbClr val="333333"/>
                </a:solidFill>
                <a:latin typeface="Times New Roman"/>
              </a:rPr>
              <a:t>Streamlit</a:t>
            </a:r>
            <a:r>
              <a:rPr sz="2000" dirty="0">
                <a:solidFill>
                  <a:srgbClr val="333333"/>
                </a:solidFill>
                <a:latin typeface="Times New Roman"/>
              </a:rPr>
              <a:t> interface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2000" dirty="0">
                <a:solidFill>
                  <a:srgbClr val="333333"/>
                </a:solidFill>
                <a:latin typeface="Times New Roman"/>
              </a:rPr>
              <a:t>Poor generalization → Transfer learning on pre-trained models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2000" dirty="0">
                <a:solidFill>
                  <a:srgbClr val="333333"/>
                </a:solidFill>
                <a:latin typeface="Times New Roman"/>
              </a:rPr>
              <a:t>Proposed Research Gap:</a:t>
            </a:r>
          </a:p>
          <a:p>
            <a:pPr lvl="1">
              <a:spcAft>
                <a:spcPts val="300"/>
              </a:spcAft>
            </a:pPr>
            <a:r>
              <a:rPr sz="2000" dirty="0">
                <a:solidFill>
                  <a:srgbClr val="555555"/>
                </a:solidFill>
                <a:latin typeface="Times New Roman"/>
              </a:rPr>
              <a:t>This is the core thesis statement of our project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2000" dirty="0">
                <a:solidFill>
                  <a:srgbClr val="333333"/>
                </a:solidFill>
                <a:latin typeface="Times New Roman"/>
              </a:rPr>
              <a:t>Most existing deepfake detection systems achieve high accuracy but require significant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2000" dirty="0">
                <a:solidFill>
                  <a:srgbClr val="333333"/>
                </a:solidFill>
                <a:latin typeface="Times New Roman"/>
              </a:rPr>
              <a:t>computational resources and are not suitable for real-time applications. This project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2000" dirty="0">
                <a:solidFill>
                  <a:srgbClr val="333333"/>
                </a:solidFill>
                <a:latin typeface="Times New Roman"/>
              </a:rPr>
              <a:t>proposes a lightweight and efficient deep learning framework capable of providing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2000" dirty="0">
                <a:solidFill>
                  <a:srgbClr val="333333"/>
                </a:solidFill>
                <a:latin typeface="Times New Roman"/>
              </a:rPr>
              <a:t>accurate real-time deepfake detection while maintaining lower computational complexity.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A1A2E"/>
                </a:solidFill>
                <a:latin typeface="Cambria"/>
              </a:rPr>
              <a:t>Project Planning &amp; Timeline (16 Weeks)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600" dirty="0">
                <a:solidFill>
                  <a:srgbClr val="333333"/>
                </a:solidFill>
                <a:latin typeface="Times New Roman"/>
              </a:rPr>
              <a:t>Week 1–2: Literature Survey &amp; Research Gap Identification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600" dirty="0">
                <a:solidFill>
                  <a:srgbClr val="333333"/>
                </a:solidFill>
                <a:latin typeface="Times New Roman"/>
              </a:rPr>
              <a:t>Week 3–4: Dataset Collection &amp; Analysis (</a:t>
            </a:r>
            <a:r>
              <a:rPr sz="1600" dirty="0" err="1">
                <a:solidFill>
                  <a:srgbClr val="333333"/>
                </a:solidFill>
                <a:latin typeface="Times New Roman"/>
              </a:rPr>
              <a:t>FaceForensics</a:t>
            </a:r>
            <a:r>
              <a:rPr sz="1600" dirty="0">
                <a:solidFill>
                  <a:srgbClr val="333333"/>
                </a:solidFill>
                <a:latin typeface="Times New Roman"/>
              </a:rPr>
              <a:t>++, Celeb-DF, DFDC)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600" dirty="0">
                <a:solidFill>
                  <a:srgbClr val="333333"/>
                </a:solidFill>
                <a:latin typeface="Times New Roman"/>
              </a:rPr>
              <a:t>Week 5–6: Data Preprocessing &amp; Face Extraction Pipeline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600" dirty="0">
                <a:solidFill>
                  <a:srgbClr val="333333"/>
                </a:solidFill>
                <a:latin typeface="Times New Roman"/>
              </a:rPr>
              <a:t>Week 7–8: Baseline CNN Model Development &amp; Initial Training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600" dirty="0">
                <a:solidFill>
                  <a:srgbClr val="333333"/>
                </a:solidFill>
                <a:latin typeface="Times New Roman"/>
              </a:rPr>
              <a:t>Week 9–10: Model Improvement — Transfer Learning, Hyperparameter Tuning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600" dirty="0">
                <a:solidFill>
                  <a:srgbClr val="333333"/>
                </a:solidFill>
                <a:latin typeface="Times New Roman"/>
              </a:rPr>
              <a:t>Week 11–12: Real-Time System Development (Web Interface + API)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600" dirty="0">
                <a:solidFill>
                  <a:srgbClr val="333333"/>
                </a:solidFill>
                <a:latin typeface="Times New Roman"/>
              </a:rPr>
              <a:t>Week 13: Testing, Evaluation &amp; Performance Comparison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600" dirty="0">
                <a:solidFill>
                  <a:srgbClr val="333333"/>
                </a:solidFill>
                <a:latin typeface="Times New Roman"/>
              </a:rPr>
              <a:t>Week 14–15: Documentation &amp; Research Paper Drafting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600" dirty="0">
                <a:solidFill>
                  <a:srgbClr val="333333"/>
                </a:solidFill>
                <a:latin typeface="Times New Roman"/>
              </a:rPr>
              <a:t>Week 16: Final Review &amp; Submission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600" dirty="0">
                <a:solidFill>
                  <a:srgbClr val="333333"/>
                </a:solidFill>
                <a:latin typeface="Times New Roman"/>
              </a:rPr>
              <a:t>Milestones: M1 — Literature Survey  |  M2 — Dataset Prepared  |  M3 — Baseline CNN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600" dirty="0">
                <a:solidFill>
                  <a:srgbClr val="333333"/>
                </a:solidFill>
                <a:latin typeface="Times New Roman"/>
              </a:rPr>
              <a:t>M4 — Improved DL Model  |  M5 — Web Interface  |  M6 — Evaluation  |  M7 — Paper Drafted  |  M8 — Final Submission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600" dirty="0">
                <a:solidFill>
                  <a:srgbClr val="333333"/>
                </a:solidFill>
                <a:latin typeface="Times New Roman"/>
              </a:rPr>
              <a:t>Task Allocation: Member 1 — Literature &amp; Docs  |  Member 2 — Dataset &amp; Preprocessing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600" dirty="0">
                <a:solidFill>
                  <a:srgbClr val="333333"/>
                </a:solidFill>
                <a:latin typeface="Times New Roman"/>
              </a:rPr>
              <a:t>Member 3 — Model Development &amp; Training  |  Member 4 — Frontend &amp; Deployment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C21F2-7A6B-37B5-180A-997DBD3F5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87680"/>
            <a:ext cx="10515600" cy="1325563"/>
          </a:xfrm>
        </p:spPr>
        <p:txBody>
          <a:bodyPr/>
          <a:lstStyle/>
          <a:p>
            <a:r>
              <a:rPr lang="en-US" dirty="0"/>
              <a:t>   				Thank You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72D98-EB2A-E806-E4D1-BC4432BC2D2C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1730477" y="2477729"/>
            <a:ext cx="5869859" cy="391602"/>
          </a:xfrm>
        </p:spPr>
        <p:txBody>
          <a:bodyPr>
            <a:noAutofit/>
          </a:bodyPr>
          <a:lstStyle/>
          <a:p>
            <a:pPr marL="3657600" lvl="8" indent="0">
              <a:buNone/>
            </a:pPr>
            <a:r>
              <a:rPr lang="en-IN" sz="2800" dirty="0"/>
              <a:t>🎀</a:t>
            </a:r>
          </a:p>
        </p:txBody>
      </p:sp>
    </p:spTree>
    <p:extLst>
      <p:ext uri="{BB962C8B-B14F-4D97-AF65-F5344CB8AC3E}">
        <p14:creationId xmlns:p14="http://schemas.microsoft.com/office/powerpoint/2010/main" val="37162536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901</TotalTime>
  <Words>1202</Words>
  <Application>Microsoft Office PowerPoint</Application>
  <PresentationFormat>Widescreen</PresentationFormat>
  <Paragraphs>111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Cambria</vt:lpstr>
      <vt:lpstr>Times New Roman</vt:lpstr>
      <vt:lpstr>Office Theme</vt:lpstr>
      <vt:lpstr>AI-Based Deepfake Detection
and Verification System
Using Deep Learning</vt:lpstr>
      <vt:lpstr>Relevance of the Problem</vt:lpstr>
      <vt:lpstr>Problem Statement</vt:lpstr>
      <vt:lpstr>Justification of Project Title</vt:lpstr>
      <vt:lpstr>Objectives of the Project</vt:lpstr>
      <vt:lpstr>Scope of the Project</vt:lpstr>
      <vt:lpstr>Basic Concepts Related to the Project</vt:lpstr>
      <vt:lpstr>Literature Survey</vt:lpstr>
      <vt:lpstr>Research Gap &amp; Proposed Solution</vt:lpstr>
      <vt:lpstr>Project Planning &amp; Timeline (16 Weeks)</vt:lpstr>
      <vt:lpstr>      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Chandra Sekhar Perike</dc:creator>
  <cp:lastModifiedBy>Jai Vijai</cp:lastModifiedBy>
  <cp:revision>297</cp:revision>
  <dcterms:created xsi:type="dcterms:W3CDTF">2026-06-12T06:07:18Z</dcterms:created>
  <dcterms:modified xsi:type="dcterms:W3CDTF">2026-06-27T03:44:11Z</dcterms:modified>
</cp:coreProperties>
</file>